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Introduce the team by name and role, state the project title, and give a one-sentence hook: "SmartCare ICU is a paperless, AI-assisted ICU management platform we built end-to-end — from the database to a working RAG assistant." Keep this to 30 seconds; the agenda slide does the rest of the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agenda quickly and hand off. This slide exists so the audience knows who to expect next and doesn't need reminding of names later. Presenter 1: mention that each of the five of you owned a real, separate part of the build — this wasn't divided after the fact for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State the section title out loud and briefly preview the four slides ahead: the problem, our objectives, who uses the system, and the solution in one sentence. Keep this to about 15 seconds — the energy should come from the content slides, not the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pain, not the pitch — spend real time here. Ground each bullet in something concrete: "imagine a resident on rounds flipping through three different binders to find yesterday's labs." The audience needs to feel the problem is real before the next slide tells them what we did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"here's what we promised ourselves at the start" — it sets up every later section as evidence the objective was actually met, which is exactly what a graduation panel is listening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admin row especially — it's a common panel question: "can the admin see patient data?" The answer is no, by design, enforced at the API layer, not just hidden in the UI. That's worth saying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This is the technical-depth section of the talk — signal that up front: "this next part is for anyone wondering what's actually running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bullet — pick two to actually explain (pgvector and Bedrock are usually the ones panels ask about) and let the rest speak for themselves as a competence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 real request out loud: a nurse submits vitals → hits the API → gets authenticated and role-checked → gets written to Postgres and logged to the audit trail in the same transaction. That one concrete example does more than describing the diagram abstractly.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"admission-scoped, not patient-scoped" point is the one design decision worth explaining: a returning patient gets a new admission linked to their existing record, not a duplicate patient — this was a deliberate ERD decision, not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about SQL injection or XSS": Prisma's query builder parameterizes everything (no raw SQL string concatenation anywhere in the app), and React escapes rendered content by default. Good to have ready, don't volunteer it unprompted.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This is the walk-through-the-actual-product section — if there's a live demo planned for later, mention here that everything described in the next four slides is what the demo will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like a timeline, not four separate features. The point of this slide is continuity — everything downstream references the same admission_id, so nothing about this patient's stay is ever scattered across disconnected records the way it was in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recorded, one thing true: every one of these becomes searchable context for the AI assistant covered in Section 4 — that connective thread is worth stating explicitly once here so Section 4 doesn't feel disconnected.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interesting design decision to explain: most systems treat diagnosis as a one-directional doctor order. We modeled it as a conversation with an audit trail, because in a real ICU a nurse noticing something doesn't match the chart is valuable clinical information, not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did you model clinical authority, not just data?" — the RBAC isn't just about screens, it's about who is allowed to make which decision, which is the harder problem to get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This is usually the section a graduation panel is most curious about — set the frame early: "every AI feature here is grounded in this patient's actual recorded data, never a generic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just call an LLM directly: without retrieval, the model would either refuse to answer patient-specific questions or hallucinate. Grounding every answer in retrieved, cited data is what makes this usable in a clinical setting instead of a 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graceful degradation path here: if Bedrock is unreachable or exceeds a 6-second timeout, the rest of the dashboard stays fully functional with a clear status banner — AI is an enhancement layer, never a single point of failure for clinical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feature is a nice concrete detail if asked "what was hard to build": it had to work with gloved hands at the bedside without sending any audio off-device — that's a real design constraint, not a gimmick.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panel is the differentiator worth emphasizing: a black-box alert gets ignored by clinicians. Showing the triggering metrics and a differential is what makes an alert something a resident can actually act 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Signal the shift from features to engineering practice: "the last section is about everything that makes this a real, operable system rather than a demo that only works on one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password-reset flow is a good "we thought about edge cases" example: it's rate-limited by IP+email rather than IP alone specifically because a shared hospital terminal would otherwise let one person's failed attempts lock out an entire ward's login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live demo follows, this is the natural handoff line: "and now we'll show you the actual running system" — cue whoever is driving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these numbers land for a second before moving on — they're the concrete answer to "how much did you actually build," which is worth having ready as a single memorable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intentional scoping, not a list of failures — a panel respects "we knew where the line was" far more than an apologetic list of missing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Whoever presented Section 5 should take this — thank the panel, invite questions, and have all five team members ready to field a question in their own section rather than one person answering everything. A quick pre-agreed rule: if a question is genuinely cross-cutting (e.g. "how does the audit log interact with the AI features"), whoever is most comfortable answers, not necessarily by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592928" y="685800"/>
            <a:ext cx="1005840" cy="1005840"/>
          </a:xfrm>
          <a:prstGeom prst="ellipse">
            <a:avLst/>
          </a:prstGeom>
          <a:solidFill>
            <a:srgbClr val="13877F"/>
          </a:solidFill>
          <a:ln/>
        </p:spPr>
      </p:sp>
      <p:pic>
        <p:nvPicPr>
          <p:cNvPr id="3" name="Image 0" descr="preencoded.png">    </p:cNvPr>
          <p:cNvPicPr>
            <a:picLocks noChangeAspect="1"/>
          </p:cNvPicPr>
          <p:nvPr/>
        </p:nvPicPr>
        <p:blipFill>
          <a:blip r:embed="rId1"/>
          <a:stretch>
            <a:fillRect/>
          </a:stretch>
        </p:blipFill>
        <p:spPr>
          <a:xfrm>
            <a:off x="5854446" y="947318"/>
            <a:ext cx="482803" cy="482803"/>
          </a:xfrm>
          <a:prstGeom prst="rect">
            <a:avLst/>
          </a:prstGeom>
        </p:spPr>
      </p:pic>
      <p:sp>
        <p:nvSpPr>
          <p:cNvPr id="4" name="Text 1"/>
          <p:cNvSpPr/>
          <p:nvPr/>
        </p:nvSpPr>
        <p:spPr>
          <a:xfrm>
            <a:off x="731520" y="1965960"/>
            <a:ext cx="1072865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SmartCare ICU</a:t>
            </a:r>
            <a:endParaRPr lang="en-US" sz="5400" dirty="0"/>
          </a:p>
        </p:txBody>
      </p:sp>
      <p:sp>
        <p:nvSpPr>
          <p:cNvPr id="5" name="Text 2"/>
          <p:cNvSpPr/>
          <p:nvPr/>
        </p:nvSpPr>
        <p:spPr>
          <a:xfrm>
            <a:off x="1188720" y="2971800"/>
            <a:ext cx="9814255" cy="502920"/>
          </a:xfrm>
          <a:prstGeom prst="rect">
            <a:avLst/>
          </a:prstGeom>
          <a:noFill/>
          <a:ln/>
        </p:spPr>
        <p:txBody>
          <a:bodyPr wrap="square" lIns="0" tIns="0" rIns="0" bIns="0"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AI-Powered ICU Management &amp; Clinical Decision Support System</a:t>
            </a:r>
            <a:endParaRPr lang="en-US" sz="1800" dirty="0"/>
          </a:p>
        </p:txBody>
      </p:sp>
      <p:sp>
        <p:nvSpPr>
          <p:cNvPr id="6" name="Shape 3"/>
          <p:cNvSpPr/>
          <p:nvPr/>
        </p:nvSpPr>
        <p:spPr>
          <a:xfrm>
            <a:off x="5272888" y="3703320"/>
            <a:ext cx="1645920" cy="0"/>
          </a:xfrm>
          <a:prstGeom prst="line">
            <a:avLst/>
          </a:prstGeom>
          <a:noFill/>
          <a:ln w="25400">
            <a:solidFill>
              <a:srgbClr val="13877F"/>
            </a:solidFill>
            <a:prstDash val="solid"/>
          </a:ln>
        </p:spPr>
      </p:sp>
      <p:sp>
        <p:nvSpPr>
          <p:cNvPr id="7" name="Text 4"/>
          <p:cNvSpPr/>
          <p:nvPr/>
        </p:nvSpPr>
        <p:spPr>
          <a:xfrm>
            <a:off x="1188720" y="3886200"/>
            <a:ext cx="9814255" cy="365760"/>
          </a:xfrm>
          <a:prstGeom prst="rect">
            <a:avLst/>
          </a:prstGeom>
          <a:noFill/>
          <a:ln/>
        </p:spPr>
        <p:txBody>
          <a:bodyPr wrap="square" lIns="0" tIns="0" rIns="0" bIns="0" rtlCol="0" anchor="ctr"/>
          <a:lstStyle/>
          <a:p>
            <a:pPr algn="ctr" indent="0" marL="0">
              <a:buNone/>
            </a:pPr>
            <a:r>
              <a:rPr lang="en-US" sz="1200" b="1" spc="300" kern="0" dirty="0">
                <a:solidFill>
                  <a:srgbClr val="13877F"/>
                </a:solidFill>
                <a:latin typeface="Calibri" pitchFamily="34" charset="0"/>
                <a:ea typeface="Calibri" pitchFamily="34" charset="-122"/>
                <a:cs typeface="Calibri" pitchFamily="34" charset="-120"/>
              </a:rPr>
              <a:t>GRADUATION PROJECT PRESENTATION</a:t>
            </a:r>
            <a:endParaRPr lang="en-US" sz="1200" dirty="0"/>
          </a:p>
        </p:txBody>
      </p:sp>
      <p:sp>
        <p:nvSpPr>
          <p:cNvPr id="8" name="Shape 5"/>
          <p:cNvSpPr/>
          <p:nvPr/>
        </p:nvSpPr>
        <p:spPr>
          <a:xfrm>
            <a:off x="737464" y="5623560"/>
            <a:ext cx="2011680" cy="457200"/>
          </a:xfrm>
          <a:prstGeom prst="roundRect">
            <a:avLst>
              <a:gd name="adj" fmla="val 16000"/>
            </a:avLst>
          </a:prstGeom>
          <a:solidFill>
            <a:srgbClr val="081B33"/>
          </a:solidFill>
          <a:ln w="12700">
            <a:solidFill>
              <a:srgbClr val="244468"/>
            </a:solidFill>
            <a:prstDash val="solid"/>
          </a:ln>
        </p:spPr>
      </p:sp>
      <p:sp>
        <p:nvSpPr>
          <p:cNvPr id="9" name="Text 6"/>
          <p:cNvSpPr/>
          <p:nvPr/>
        </p:nvSpPr>
        <p:spPr>
          <a:xfrm>
            <a:off x="737464" y="5623560"/>
            <a:ext cx="201168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Team Member 1</a:t>
            </a:r>
            <a:endParaRPr lang="en-US" sz="1100" dirty="0"/>
          </a:p>
        </p:txBody>
      </p:sp>
      <p:sp>
        <p:nvSpPr>
          <p:cNvPr id="10" name="Shape 7"/>
          <p:cNvSpPr/>
          <p:nvPr/>
        </p:nvSpPr>
        <p:spPr>
          <a:xfrm>
            <a:off x="2913736" y="5623560"/>
            <a:ext cx="2011680" cy="457200"/>
          </a:xfrm>
          <a:prstGeom prst="roundRect">
            <a:avLst>
              <a:gd name="adj" fmla="val 16000"/>
            </a:avLst>
          </a:prstGeom>
          <a:solidFill>
            <a:srgbClr val="081B33"/>
          </a:solidFill>
          <a:ln w="12700">
            <a:solidFill>
              <a:srgbClr val="244468"/>
            </a:solidFill>
            <a:prstDash val="solid"/>
          </a:ln>
        </p:spPr>
      </p:sp>
      <p:sp>
        <p:nvSpPr>
          <p:cNvPr id="11" name="Text 8"/>
          <p:cNvSpPr/>
          <p:nvPr/>
        </p:nvSpPr>
        <p:spPr>
          <a:xfrm>
            <a:off x="2913736" y="5623560"/>
            <a:ext cx="201168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Team Member 2</a:t>
            </a:r>
            <a:endParaRPr lang="en-US" sz="1100" dirty="0"/>
          </a:p>
        </p:txBody>
      </p:sp>
      <p:sp>
        <p:nvSpPr>
          <p:cNvPr id="12" name="Shape 9"/>
          <p:cNvSpPr/>
          <p:nvPr/>
        </p:nvSpPr>
        <p:spPr>
          <a:xfrm>
            <a:off x="5090008" y="5623560"/>
            <a:ext cx="2011680" cy="457200"/>
          </a:xfrm>
          <a:prstGeom prst="roundRect">
            <a:avLst>
              <a:gd name="adj" fmla="val 16000"/>
            </a:avLst>
          </a:prstGeom>
          <a:solidFill>
            <a:srgbClr val="081B33"/>
          </a:solidFill>
          <a:ln w="12700">
            <a:solidFill>
              <a:srgbClr val="244468"/>
            </a:solidFill>
            <a:prstDash val="solid"/>
          </a:ln>
        </p:spPr>
      </p:sp>
      <p:sp>
        <p:nvSpPr>
          <p:cNvPr id="13" name="Text 10"/>
          <p:cNvSpPr/>
          <p:nvPr/>
        </p:nvSpPr>
        <p:spPr>
          <a:xfrm>
            <a:off x="5090008" y="5623560"/>
            <a:ext cx="201168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Team Member 3</a:t>
            </a:r>
            <a:endParaRPr lang="en-US" sz="1100" dirty="0"/>
          </a:p>
        </p:txBody>
      </p:sp>
      <p:sp>
        <p:nvSpPr>
          <p:cNvPr id="14" name="Shape 11"/>
          <p:cNvSpPr/>
          <p:nvPr/>
        </p:nvSpPr>
        <p:spPr>
          <a:xfrm>
            <a:off x="7266280" y="5623560"/>
            <a:ext cx="2011680" cy="457200"/>
          </a:xfrm>
          <a:prstGeom prst="roundRect">
            <a:avLst>
              <a:gd name="adj" fmla="val 16000"/>
            </a:avLst>
          </a:prstGeom>
          <a:solidFill>
            <a:srgbClr val="081B33"/>
          </a:solidFill>
          <a:ln w="12700">
            <a:solidFill>
              <a:srgbClr val="244468"/>
            </a:solidFill>
            <a:prstDash val="solid"/>
          </a:ln>
        </p:spPr>
      </p:sp>
      <p:sp>
        <p:nvSpPr>
          <p:cNvPr id="15" name="Text 12"/>
          <p:cNvSpPr/>
          <p:nvPr/>
        </p:nvSpPr>
        <p:spPr>
          <a:xfrm>
            <a:off x="7266280" y="5623560"/>
            <a:ext cx="201168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Team Member 4</a:t>
            </a:r>
            <a:endParaRPr lang="en-US" sz="1100" dirty="0"/>
          </a:p>
        </p:txBody>
      </p:sp>
      <p:sp>
        <p:nvSpPr>
          <p:cNvPr id="16" name="Shape 13"/>
          <p:cNvSpPr/>
          <p:nvPr/>
        </p:nvSpPr>
        <p:spPr>
          <a:xfrm>
            <a:off x="9442552" y="5623560"/>
            <a:ext cx="2011680" cy="457200"/>
          </a:xfrm>
          <a:prstGeom prst="roundRect">
            <a:avLst>
              <a:gd name="adj" fmla="val 16000"/>
            </a:avLst>
          </a:prstGeom>
          <a:solidFill>
            <a:srgbClr val="081B33"/>
          </a:solidFill>
          <a:ln w="12700">
            <a:solidFill>
              <a:srgbClr val="244468"/>
            </a:solidFill>
            <a:prstDash val="solid"/>
          </a:ln>
        </p:spPr>
      </p:sp>
      <p:sp>
        <p:nvSpPr>
          <p:cNvPr id="17" name="Text 14"/>
          <p:cNvSpPr/>
          <p:nvPr/>
        </p:nvSpPr>
        <p:spPr>
          <a:xfrm>
            <a:off x="9442552" y="5623560"/>
            <a:ext cx="201168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Team Member 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50292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731520" y="822960"/>
            <a:ext cx="9144000" cy="640080"/>
          </a:xfrm>
          <a:prstGeom prst="rect">
            <a:avLst/>
          </a:prstGeom>
          <a:noFill/>
          <a:ln/>
        </p:spPr>
        <p:txBody>
          <a:bodyPr wrap="square" lIns="0" tIns="0" rIns="0" bIns="0" rtlCol="0" anchor="ctr"/>
          <a:lstStyle/>
          <a:p>
            <a:pPr indent="0" marL="0">
              <a:buNone/>
            </a:pPr>
            <a:r>
              <a:rPr lang="en-US" sz="3200" b="1" dirty="0">
                <a:solidFill>
                  <a:srgbClr val="1A2333"/>
                </a:solidFill>
                <a:latin typeface="Cambria" pitchFamily="34" charset="0"/>
                <a:ea typeface="Cambria" pitchFamily="34" charset="-122"/>
                <a:cs typeface="Cambria" pitchFamily="34" charset="-120"/>
              </a:rPr>
              <a:t>Tonight's Agenda</a:t>
            </a:r>
            <a:endParaRPr lang="en-US" sz="3200" dirty="0"/>
          </a:p>
        </p:txBody>
      </p:sp>
      <p:sp>
        <p:nvSpPr>
          <p:cNvPr id="4" name="Text 2"/>
          <p:cNvSpPr/>
          <p:nvPr/>
        </p:nvSpPr>
        <p:spPr>
          <a:xfrm>
            <a:off x="731520" y="1417320"/>
            <a:ext cx="9144000" cy="365760"/>
          </a:xfrm>
          <a:prstGeom prst="rect">
            <a:avLst/>
          </a:prstGeom>
          <a:noFill/>
          <a:ln/>
        </p:spPr>
        <p:txBody>
          <a:bodyPr wrap="square" lIns="0" tIns="0" rIns="0" bIns="0" rtlCol="0" anchor="ctr"/>
          <a:lstStyle/>
          <a:p>
            <a:pPr indent="0" marL="0">
              <a:buNone/>
            </a:pPr>
            <a:r>
              <a:rPr lang="en-US" sz="1400" dirty="0">
                <a:solidFill>
                  <a:srgbClr val="5B6B82"/>
                </a:solidFill>
                <a:latin typeface="Calibri" pitchFamily="34" charset="0"/>
                <a:ea typeface="Calibri" pitchFamily="34" charset="-122"/>
                <a:cs typeface="Calibri" pitchFamily="34" charset="-120"/>
              </a:rPr>
              <a:t>Five sections, one presenter each — roughly 30 minutes total.</a:t>
            </a:r>
            <a:endParaRPr lang="en-US" sz="1400" dirty="0"/>
          </a:p>
        </p:txBody>
      </p:sp>
      <p:sp>
        <p:nvSpPr>
          <p:cNvPr id="5" name="Shape 3"/>
          <p:cNvSpPr/>
          <p:nvPr/>
        </p:nvSpPr>
        <p:spPr>
          <a:xfrm>
            <a:off x="731520" y="2011680"/>
            <a:ext cx="10728655" cy="694944"/>
          </a:xfrm>
          <a:prstGeom prst="roundRect">
            <a:avLst>
              <a:gd name="adj" fmla="val 7895"/>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6" name="Text 4"/>
          <p:cNvSpPr/>
          <p:nvPr/>
        </p:nvSpPr>
        <p:spPr>
          <a:xfrm>
            <a:off x="914400" y="2011680"/>
            <a:ext cx="731520" cy="694944"/>
          </a:xfrm>
          <a:prstGeom prst="rect">
            <a:avLst/>
          </a:prstGeom>
          <a:noFill/>
          <a:ln/>
        </p:spPr>
        <p:txBody>
          <a:bodyPr wrap="square" lIns="0" tIns="0" rIns="0" bIns="0" rtlCol="0" anchor="ctr"/>
          <a:lstStyle/>
          <a:p>
            <a:pPr indent="0" marL="0">
              <a:buNone/>
            </a:pPr>
            <a:r>
              <a:rPr lang="en-US" sz="2600" b="1" dirty="0">
                <a:solidFill>
                  <a:srgbClr val="D7DEE8"/>
                </a:solidFill>
                <a:latin typeface="Cambria" pitchFamily="34" charset="0"/>
                <a:ea typeface="Cambria" pitchFamily="34" charset="-122"/>
                <a:cs typeface="Cambria" pitchFamily="34" charset="-120"/>
              </a:rPr>
              <a:t>01</a:t>
            </a:r>
            <a:endParaRPr lang="en-US" sz="2600" dirty="0"/>
          </a:p>
        </p:txBody>
      </p:sp>
      <p:sp>
        <p:nvSpPr>
          <p:cNvPr id="7" name="Shape 5"/>
          <p:cNvSpPr/>
          <p:nvPr/>
        </p:nvSpPr>
        <p:spPr>
          <a:xfrm>
            <a:off x="1600200" y="2112264"/>
            <a:ext cx="493776" cy="493776"/>
          </a:xfrm>
          <a:prstGeom prst="ellipse">
            <a:avLst/>
          </a:prstGeom>
          <a:solidFill>
            <a:srgbClr val="E4F3F1"/>
          </a:solidFill>
          <a:ln/>
        </p:spPr>
      </p:sp>
      <p:pic>
        <p:nvPicPr>
          <p:cNvPr id="8" name="Image 0" descr="preencoded.png">    </p:cNvPr>
          <p:cNvPicPr>
            <a:picLocks noChangeAspect="1"/>
          </p:cNvPicPr>
          <p:nvPr/>
        </p:nvPicPr>
        <p:blipFill>
          <a:blip r:embed="rId1"/>
          <a:stretch>
            <a:fillRect/>
          </a:stretch>
        </p:blipFill>
        <p:spPr>
          <a:xfrm>
            <a:off x="1728582" y="2240646"/>
            <a:ext cx="237012" cy="237012"/>
          </a:xfrm>
          <a:prstGeom prst="rect">
            <a:avLst/>
          </a:prstGeom>
        </p:spPr>
      </p:pic>
      <p:sp>
        <p:nvSpPr>
          <p:cNvPr id="9" name="Text 6"/>
          <p:cNvSpPr/>
          <p:nvPr/>
        </p:nvSpPr>
        <p:spPr>
          <a:xfrm>
            <a:off x="2331720" y="2066544"/>
            <a:ext cx="5212080" cy="365760"/>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Introduction &amp; Problem</a:t>
            </a:r>
            <a:endParaRPr lang="en-US" sz="1500" dirty="0"/>
          </a:p>
        </p:txBody>
      </p:sp>
      <p:sp>
        <p:nvSpPr>
          <p:cNvPr id="10" name="Text 7"/>
          <p:cNvSpPr/>
          <p:nvPr/>
        </p:nvSpPr>
        <p:spPr>
          <a:xfrm>
            <a:off x="2331720" y="2395728"/>
            <a:ext cx="5212080" cy="292608"/>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Why SmartCare ICU exists</a:t>
            </a:r>
            <a:endParaRPr lang="en-US" sz="1100" dirty="0"/>
          </a:p>
        </p:txBody>
      </p:sp>
      <p:sp>
        <p:nvSpPr>
          <p:cNvPr id="11" name="Text 8"/>
          <p:cNvSpPr/>
          <p:nvPr/>
        </p:nvSpPr>
        <p:spPr>
          <a:xfrm>
            <a:off x="7772400" y="2011680"/>
            <a:ext cx="2377440" cy="694944"/>
          </a:xfrm>
          <a:prstGeom prst="rect">
            <a:avLst/>
          </a:prstGeom>
          <a:noFill/>
          <a:ln/>
        </p:spPr>
        <p:txBody>
          <a:bodyPr wrap="square" lIns="0" tIns="0" rIns="0" bIns="0" rtlCol="0" anchor="ctr"/>
          <a:lstStyle/>
          <a:p>
            <a:pPr indent="0" marL="0">
              <a:buNone/>
            </a:pPr>
            <a:r>
              <a:rPr lang="en-US" sz="1200" b="1" dirty="0">
                <a:solidFill>
                  <a:srgbClr val="13877F"/>
                </a:solidFill>
                <a:latin typeface="Calibri" pitchFamily="34" charset="0"/>
                <a:ea typeface="Calibri" pitchFamily="34" charset="-122"/>
                <a:cs typeface="Calibri" pitchFamily="34" charset="-120"/>
              </a:rPr>
              <a:t>Team Member 1</a:t>
            </a:r>
            <a:endParaRPr lang="en-US" sz="1200" dirty="0"/>
          </a:p>
        </p:txBody>
      </p:sp>
      <p:sp>
        <p:nvSpPr>
          <p:cNvPr id="12" name="Text 9"/>
          <p:cNvSpPr/>
          <p:nvPr/>
        </p:nvSpPr>
        <p:spPr>
          <a:xfrm>
            <a:off x="10149840" y="2011680"/>
            <a:ext cx="1188720" cy="694944"/>
          </a:xfrm>
          <a:prstGeom prst="rect">
            <a:avLst/>
          </a:prstGeom>
          <a:noFill/>
          <a:ln/>
        </p:spPr>
        <p:txBody>
          <a:bodyPr wrap="square" lIns="0" tIns="0" rIns="0" bIns="0" rtlCol="0" anchor="ctr"/>
          <a:lstStyle/>
          <a:p>
            <a:pPr algn="r" indent="0" marL="0">
              <a:buNone/>
            </a:pPr>
            <a:r>
              <a:rPr lang="en-US" sz="1200" dirty="0">
                <a:solidFill>
                  <a:srgbClr val="5B6B82"/>
                </a:solidFill>
                <a:latin typeface="Calibri" pitchFamily="34" charset="0"/>
                <a:ea typeface="Calibri" pitchFamily="34" charset="-122"/>
                <a:cs typeface="Calibri" pitchFamily="34" charset="-120"/>
              </a:rPr>
              <a:t>~6 min</a:t>
            </a:r>
            <a:endParaRPr lang="en-US" sz="1200" dirty="0"/>
          </a:p>
        </p:txBody>
      </p:sp>
      <p:sp>
        <p:nvSpPr>
          <p:cNvPr id="13" name="Shape 10"/>
          <p:cNvSpPr/>
          <p:nvPr/>
        </p:nvSpPr>
        <p:spPr>
          <a:xfrm>
            <a:off x="731520" y="2852928"/>
            <a:ext cx="10728655" cy="694944"/>
          </a:xfrm>
          <a:prstGeom prst="roundRect">
            <a:avLst>
              <a:gd name="adj" fmla="val 7895"/>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14" name="Text 11"/>
          <p:cNvSpPr/>
          <p:nvPr/>
        </p:nvSpPr>
        <p:spPr>
          <a:xfrm>
            <a:off x="914400" y="2852928"/>
            <a:ext cx="731520" cy="694944"/>
          </a:xfrm>
          <a:prstGeom prst="rect">
            <a:avLst/>
          </a:prstGeom>
          <a:noFill/>
          <a:ln/>
        </p:spPr>
        <p:txBody>
          <a:bodyPr wrap="square" lIns="0" tIns="0" rIns="0" bIns="0" rtlCol="0" anchor="ctr"/>
          <a:lstStyle/>
          <a:p>
            <a:pPr indent="0" marL="0">
              <a:buNone/>
            </a:pPr>
            <a:r>
              <a:rPr lang="en-US" sz="2600" b="1" dirty="0">
                <a:solidFill>
                  <a:srgbClr val="D7DEE8"/>
                </a:solidFill>
                <a:latin typeface="Cambria" pitchFamily="34" charset="0"/>
                <a:ea typeface="Cambria" pitchFamily="34" charset="-122"/>
                <a:cs typeface="Cambria" pitchFamily="34" charset="-120"/>
              </a:rPr>
              <a:t>02</a:t>
            </a:r>
            <a:endParaRPr lang="en-US" sz="2600" dirty="0"/>
          </a:p>
        </p:txBody>
      </p:sp>
      <p:sp>
        <p:nvSpPr>
          <p:cNvPr id="15" name="Shape 12"/>
          <p:cNvSpPr/>
          <p:nvPr/>
        </p:nvSpPr>
        <p:spPr>
          <a:xfrm>
            <a:off x="1600200" y="2953512"/>
            <a:ext cx="493776" cy="493776"/>
          </a:xfrm>
          <a:prstGeom prst="ellipse">
            <a:avLst/>
          </a:prstGeom>
          <a:solidFill>
            <a:srgbClr val="E4F3F1"/>
          </a:solidFill>
          <a:ln/>
        </p:spPr>
      </p:sp>
      <p:pic>
        <p:nvPicPr>
          <p:cNvPr id="16" name="Image 1" descr="preencoded.png">    </p:cNvPr>
          <p:cNvPicPr>
            <a:picLocks noChangeAspect="1"/>
          </p:cNvPicPr>
          <p:nvPr/>
        </p:nvPicPr>
        <p:blipFill>
          <a:blip r:embed="rId2"/>
          <a:stretch>
            <a:fillRect/>
          </a:stretch>
        </p:blipFill>
        <p:spPr>
          <a:xfrm>
            <a:off x="1728582" y="3081894"/>
            <a:ext cx="237012" cy="237012"/>
          </a:xfrm>
          <a:prstGeom prst="rect">
            <a:avLst/>
          </a:prstGeom>
        </p:spPr>
      </p:pic>
      <p:sp>
        <p:nvSpPr>
          <p:cNvPr id="17" name="Text 13"/>
          <p:cNvSpPr/>
          <p:nvPr/>
        </p:nvSpPr>
        <p:spPr>
          <a:xfrm>
            <a:off x="2331720" y="2907792"/>
            <a:ext cx="5212080" cy="365760"/>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System Design &amp; Architecture</a:t>
            </a:r>
            <a:endParaRPr lang="en-US" sz="1500" dirty="0"/>
          </a:p>
        </p:txBody>
      </p:sp>
      <p:sp>
        <p:nvSpPr>
          <p:cNvPr id="18" name="Text 14"/>
          <p:cNvSpPr/>
          <p:nvPr/>
        </p:nvSpPr>
        <p:spPr>
          <a:xfrm>
            <a:off x="2331720" y="3236976"/>
            <a:ext cx="5212080" cy="292608"/>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Stack, data model, security</a:t>
            </a:r>
            <a:endParaRPr lang="en-US" sz="1100" dirty="0"/>
          </a:p>
        </p:txBody>
      </p:sp>
      <p:sp>
        <p:nvSpPr>
          <p:cNvPr id="19" name="Text 15"/>
          <p:cNvSpPr/>
          <p:nvPr/>
        </p:nvSpPr>
        <p:spPr>
          <a:xfrm>
            <a:off x="7772400" y="2852928"/>
            <a:ext cx="2377440" cy="694944"/>
          </a:xfrm>
          <a:prstGeom prst="rect">
            <a:avLst/>
          </a:prstGeom>
          <a:noFill/>
          <a:ln/>
        </p:spPr>
        <p:txBody>
          <a:bodyPr wrap="square" lIns="0" tIns="0" rIns="0" bIns="0" rtlCol="0" anchor="ctr"/>
          <a:lstStyle/>
          <a:p>
            <a:pPr indent="0" marL="0">
              <a:buNone/>
            </a:pPr>
            <a:r>
              <a:rPr lang="en-US" sz="1200" b="1" dirty="0">
                <a:solidFill>
                  <a:srgbClr val="13877F"/>
                </a:solidFill>
                <a:latin typeface="Calibri" pitchFamily="34" charset="0"/>
                <a:ea typeface="Calibri" pitchFamily="34" charset="-122"/>
                <a:cs typeface="Calibri" pitchFamily="34" charset="-120"/>
              </a:rPr>
              <a:t>Team Member 2</a:t>
            </a:r>
            <a:endParaRPr lang="en-US" sz="1200" dirty="0"/>
          </a:p>
        </p:txBody>
      </p:sp>
      <p:sp>
        <p:nvSpPr>
          <p:cNvPr id="20" name="Text 16"/>
          <p:cNvSpPr/>
          <p:nvPr/>
        </p:nvSpPr>
        <p:spPr>
          <a:xfrm>
            <a:off x="10149840" y="2852928"/>
            <a:ext cx="1188720" cy="694944"/>
          </a:xfrm>
          <a:prstGeom prst="rect">
            <a:avLst/>
          </a:prstGeom>
          <a:noFill/>
          <a:ln/>
        </p:spPr>
        <p:txBody>
          <a:bodyPr wrap="square" lIns="0" tIns="0" rIns="0" bIns="0" rtlCol="0" anchor="ctr"/>
          <a:lstStyle/>
          <a:p>
            <a:pPr algn="r" indent="0" marL="0">
              <a:buNone/>
            </a:pPr>
            <a:r>
              <a:rPr lang="en-US" sz="1200" dirty="0">
                <a:solidFill>
                  <a:srgbClr val="5B6B82"/>
                </a:solidFill>
                <a:latin typeface="Calibri" pitchFamily="34" charset="0"/>
                <a:ea typeface="Calibri" pitchFamily="34" charset="-122"/>
                <a:cs typeface="Calibri" pitchFamily="34" charset="-120"/>
              </a:rPr>
              <a:t>~6 min</a:t>
            </a:r>
            <a:endParaRPr lang="en-US" sz="1200" dirty="0"/>
          </a:p>
        </p:txBody>
      </p:sp>
      <p:sp>
        <p:nvSpPr>
          <p:cNvPr id="21" name="Shape 17"/>
          <p:cNvSpPr/>
          <p:nvPr/>
        </p:nvSpPr>
        <p:spPr>
          <a:xfrm>
            <a:off x="731520" y="3694176"/>
            <a:ext cx="10728655" cy="694944"/>
          </a:xfrm>
          <a:prstGeom prst="roundRect">
            <a:avLst>
              <a:gd name="adj" fmla="val 7895"/>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22" name="Text 18"/>
          <p:cNvSpPr/>
          <p:nvPr/>
        </p:nvSpPr>
        <p:spPr>
          <a:xfrm>
            <a:off x="914400" y="3694176"/>
            <a:ext cx="731520" cy="694944"/>
          </a:xfrm>
          <a:prstGeom prst="rect">
            <a:avLst/>
          </a:prstGeom>
          <a:noFill/>
          <a:ln/>
        </p:spPr>
        <p:txBody>
          <a:bodyPr wrap="square" lIns="0" tIns="0" rIns="0" bIns="0" rtlCol="0" anchor="ctr"/>
          <a:lstStyle/>
          <a:p>
            <a:pPr indent="0" marL="0">
              <a:buNone/>
            </a:pPr>
            <a:r>
              <a:rPr lang="en-US" sz="2600" b="1" dirty="0">
                <a:solidFill>
                  <a:srgbClr val="D7DEE8"/>
                </a:solidFill>
                <a:latin typeface="Cambria" pitchFamily="34" charset="0"/>
                <a:ea typeface="Cambria" pitchFamily="34" charset="-122"/>
                <a:cs typeface="Cambria" pitchFamily="34" charset="-120"/>
              </a:rPr>
              <a:t>03</a:t>
            </a:r>
            <a:endParaRPr lang="en-US" sz="2600" dirty="0"/>
          </a:p>
        </p:txBody>
      </p:sp>
      <p:sp>
        <p:nvSpPr>
          <p:cNvPr id="23" name="Shape 19"/>
          <p:cNvSpPr/>
          <p:nvPr/>
        </p:nvSpPr>
        <p:spPr>
          <a:xfrm>
            <a:off x="1600200" y="3794760"/>
            <a:ext cx="493776" cy="493776"/>
          </a:xfrm>
          <a:prstGeom prst="ellipse">
            <a:avLst/>
          </a:prstGeom>
          <a:solidFill>
            <a:srgbClr val="E4F3F1"/>
          </a:solidFill>
          <a:ln/>
        </p:spPr>
      </p:sp>
      <p:pic>
        <p:nvPicPr>
          <p:cNvPr id="24" name="Image 2" descr="preencoded.png">    </p:cNvPr>
          <p:cNvPicPr>
            <a:picLocks noChangeAspect="1"/>
          </p:cNvPicPr>
          <p:nvPr/>
        </p:nvPicPr>
        <p:blipFill>
          <a:blip r:embed="rId3"/>
          <a:stretch>
            <a:fillRect/>
          </a:stretch>
        </p:blipFill>
        <p:spPr>
          <a:xfrm>
            <a:off x="1728582" y="3923142"/>
            <a:ext cx="237012" cy="237012"/>
          </a:xfrm>
          <a:prstGeom prst="rect">
            <a:avLst/>
          </a:prstGeom>
        </p:spPr>
      </p:pic>
      <p:sp>
        <p:nvSpPr>
          <p:cNvPr id="25" name="Text 20"/>
          <p:cNvSpPr/>
          <p:nvPr/>
        </p:nvSpPr>
        <p:spPr>
          <a:xfrm>
            <a:off x="2331720" y="3749040"/>
            <a:ext cx="5212080" cy="365760"/>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Core Clinical Workflow</a:t>
            </a:r>
            <a:endParaRPr lang="en-US" sz="1500" dirty="0"/>
          </a:p>
        </p:txBody>
      </p:sp>
      <p:sp>
        <p:nvSpPr>
          <p:cNvPr id="26" name="Text 21"/>
          <p:cNvSpPr/>
          <p:nvPr/>
        </p:nvSpPr>
        <p:spPr>
          <a:xfrm>
            <a:off x="2331720" y="4078224"/>
            <a:ext cx="5212080" cy="292608"/>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Admission through discharge</a:t>
            </a:r>
            <a:endParaRPr lang="en-US" sz="1100" dirty="0"/>
          </a:p>
        </p:txBody>
      </p:sp>
      <p:sp>
        <p:nvSpPr>
          <p:cNvPr id="27" name="Text 22"/>
          <p:cNvSpPr/>
          <p:nvPr/>
        </p:nvSpPr>
        <p:spPr>
          <a:xfrm>
            <a:off x="7772400" y="3694176"/>
            <a:ext cx="2377440" cy="694944"/>
          </a:xfrm>
          <a:prstGeom prst="rect">
            <a:avLst/>
          </a:prstGeom>
          <a:noFill/>
          <a:ln/>
        </p:spPr>
        <p:txBody>
          <a:bodyPr wrap="square" lIns="0" tIns="0" rIns="0" bIns="0" rtlCol="0" anchor="ctr"/>
          <a:lstStyle/>
          <a:p>
            <a:pPr indent="0" marL="0">
              <a:buNone/>
            </a:pPr>
            <a:r>
              <a:rPr lang="en-US" sz="1200" b="1" dirty="0">
                <a:solidFill>
                  <a:srgbClr val="13877F"/>
                </a:solidFill>
                <a:latin typeface="Calibri" pitchFamily="34" charset="0"/>
                <a:ea typeface="Calibri" pitchFamily="34" charset="-122"/>
                <a:cs typeface="Calibri" pitchFamily="34" charset="-120"/>
              </a:rPr>
              <a:t>Team Member 3</a:t>
            </a:r>
            <a:endParaRPr lang="en-US" sz="1200" dirty="0"/>
          </a:p>
        </p:txBody>
      </p:sp>
      <p:sp>
        <p:nvSpPr>
          <p:cNvPr id="28" name="Text 23"/>
          <p:cNvSpPr/>
          <p:nvPr/>
        </p:nvSpPr>
        <p:spPr>
          <a:xfrm>
            <a:off x="10149840" y="3694176"/>
            <a:ext cx="1188720" cy="694944"/>
          </a:xfrm>
          <a:prstGeom prst="rect">
            <a:avLst/>
          </a:prstGeom>
          <a:noFill/>
          <a:ln/>
        </p:spPr>
        <p:txBody>
          <a:bodyPr wrap="square" lIns="0" tIns="0" rIns="0" bIns="0" rtlCol="0" anchor="ctr"/>
          <a:lstStyle/>
          <a:p>
            <a:pPr algn="r" indent="0" marL="0">
              <a:buNone/>
            </a:pPr>
            <a:r>
              <a:rPr lang="en-US" sz="1200" dirty="0">
                <a:solidFill>
                  <a:srgbClr val="5B6B82"/>
                </a:solidFill>
                <a:latin typeface="Calibri" pitchFamily="34" charset="0"/>
                <a:ea typeface="Calibri" pitchFamily="34" charset="-122"/>
                <a:cs typeface="Calibri" pitchFamily="34" charset="-120"/>
              </a:rPr>
              <a:t>~6 min</a:t>
            </a:r>
            <a:endParaRPr lang="en-US" sz="1200" dirty="0"/>
          </a:p>
        </p:txBody>
      </p:sp>
      <p:sp>
        <p:nvSpPr>
          <p:cNvPr id="29" name="Shape 24"/>
          <p:cNvSpPr/>
          <p:nvPr/>
        </p:nvSpPr>
        <p:spPr>
          <a:xfrm>
            <a:off x="731520" y="4535424"/>
            <a:ext cx="10728655" cy="694944"/>
          </a:xfrm>
          <a:prstGeom prst="roundRect">
            <a:avLst>
              <a:gd name="adj" fmla="val 7895"/>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30" name="Text 25"/>
          <p:cNvSpPr/>
          <p:nvPr/>
        </p:nvSpPr>
        <p:spPr>
          <a:xfrm>
            <a:off x="914400" y="4535424"/>
            <a:ext cx="731520" cy="694944"/>
          </a:xfrm>
          <a:prstGeom prst="rect">
            <a:avLst/>
          </a:prstGeom>
          <a:noFill/>
          <a:ln/>
        </p:spPr>
        <p:txBody>
          <a:bodyPr wrap="square" lIns="0" tIns="0" rIns="0" bIns="0" rtlCol="0" anchor="ctr"/>
          <a:lstStyle/>
          <a:p>
            <a:pPr indent="0" marL="0">
              <a:buNone/>
            </a:pPr>
            <a:r>
              <a:rPr lang="en-US" sz="2600" b="1" dirty="0">
                <a:solidFill>
                  <a:srgbClr val="D7DEE8"/>
                </a:solidFill>
                <a:latin typeface="Cambria" pitchFamily="34" charset="0"/>
                <a:ea typeface="Cambria" pitchFamily="34" charset="-122"/>
                <a:cs typeface="Cambria" pitchFamily="34" charset="-120"/>
              </a:rPr>
              <a:t>04</a:t>
            </a:r>
            <a:endParaRPr lang="en-US" sz="2600" dirty="0"/>
          </a:p>
        </p:txBody>
      </p:sp>
      <p:sp>
        <p:nvSpPr>
          <p:cNvPr id="31" name="Shape 26"/>
          <p:cNvSpPr/>
          <p:nvPr/>
        </p:nvSpPr>
        <p:spPr>
          <a:xfrm>
            <a:off x="1600200" y="4636008"/>
            <a:ext cx="493776" cy="493776"/>
          </a:xfrm>
          <a:prstGeom prst="ellipse">
            <a:avLst/>
          </a:prstGeom>
          <a:solidFill>
            <a:srgbClr val="E4F3F1"/>
          </a:solidFill>
          <a:ln/>
        </p:spPr>
      </p:sp>
      <p:pic>
        <p:nvPicPr>
          <p:cNvPr id="32" name="Image 3" descr="preencoded.png">    </p:cNvPr>
          <p:cNvPicPr>
            <a:picLocks noChangeAspect="1"/>
          </p:cNvPicPr>
          <p:nvPr/>
        </p:nvPicPr>
        <p:blipFill>
          <a:blip r:embed="rId4"/>
          <a:stretch>
            <a:fillRect/>
          </a:stretch>
        </p:blipFill>
        <p:spPr>
          <a:xfrm>
            <a:off x="1728582" y="4764390"/>
            <a:ext cx="237012" cy="237012"/>
          </a:xfrm>
          <a:prstGeom prst="rect">
            <a:avLst/>
          </a:prstGeom>
        </p:spPr>
      </p:pic>
      <p:sp>
        <p:nvSpPr>
          <p:cNvPr id="33" name="Text 27"/>
          <p:cNvSpPr/>
          <p:nvPr/>
        </p:nvSpPr>
        <p:spPr>
          <a:xfrm>
            <a:off x="2331720" y="4590288"/>
            <a:ext cx="5212080" cy="365760"/>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AI &amp; Intelligence</a:t>
            </a:r>
            <a:endParaRPr lang="en-US" sz="1500" dirty="0"/>
          </a:p>
        </p:txBody>
      </p:sp>
      <p:sp>
        <p:nvSpPr>
          <p:cNvPr id="34" name="Text 28"/>
          <p:cNvSpPr/>
          <p:nvPr/>
        </p:nvSpPr>
        <p:spPr>
          <a:xfrm>
            <a:off x="2331720" y="4919472"/>
            <a:ext cx="5212080" cy="292608"/>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Summaries, RAG, monitoring</a:t>
            </a:r>
            <a:endParaRPr lang="en-US" sz="1100" dirty="0"/>
          </a:p>
        </p:txBody>
      </p:sp>
      <p:sp>
        <p:nvSpPr>
          <p:cNvPr id="35" name="Text 29"/>
          <p:cNvSpPr/>
          <p:nvPr/>
        </p:nvSpPr>
        <p:spPr>
          <a:xfrm>
            <a:off x="7772400" y="4535424"/>
            <a:ext cx="2377440" cy="694944"/>
          </a:xfrm>
          <a:prstGeom prst="rect">
            <a:avLst/>
          </a:prstGeom>
          <a:noFill/>
          <a:ln/>
        </p:spPr>
        <p:txBody>
          <a:bodyPr wrap="square" lIns="0" tIns="0" rIns="0" bIns="0" rtlCol="0" anchor="ctr"/>
          <a:lstStyle/>
          <a:p>
            <a:pPr indent="0" marL="0">
              <a:buNone/>
            </a:pPr>
            <a:r>
              <a:rPr lang="en-US" sz="1200" b="1" dirty="0">
                <a:solidFill>
                  <a:srgbClr val="13877F"/>
                </a:solidFill>
                <a:latin typeface="Calibri" pitchFamily="34" charset="0"/>
                <a:ea typeface="Calibri" pitchFamily="34" charset="-122"/>
                <a:cs typeface="Calibri" pitchFamily="34" charset="-120"/>
              </a:rPr>
              <a:t>Team Member 4</a:t>
            </a:r>
            <a:endParaRPr lang="en-US" sz="1200" dirty="0"/>
          </a:p>
        </p:txBody>
      </p:sp>
      <p:sp>
        <p:nvSpPr>
          <p:cNvPr id="36" name="Text 30"/>
          <p:cNvSpPr/>
          <p:nvPr/>
        </p:nvSpPr>
        <p:spPr>
          <a:xfrm>
            <a:off x="10149840" y="4535424"/>
            <a:ext cx="1188720" cy="694944"/>
          </a:xfrm>
          <a:prstGeom prst="rect">
            <a:avLst/>
          </a:prstGeom>
          <a:noFill/>
          <a:ln/>
        </p:spPr>
        <p:txBody>
          <a:bodyPr wrap="square" lIns="0" tIns="0" rIns="0" bIns="0" rtlCol="0" anchor="ctr"/>
          <a:lstStyle/>
          <a:p>
            <a:pPr algn="r" indent="0" marL="0">
              <a:buNone/>
            </a:pPr>
            <a:r>
              <a:rPr lang="en-US" sz="1200" dirty="0">
                <a:solidFill>
                  <a:srgbClr val="5B6B82"/>
                </a:solidFill>
                <a:latin typeface="Calibri" pitchFamily="34" charset="0"/>
                <a:ea typeface="Calibri" pitchFamily="34" charset="-122"/>
                <a:cs typeface="Calibri" pitchFamily="34" charset="-120"/>
              </a:rPr>
              <a:t>~6 min</a:t>
            </a:r>
            <a:endParaRPr lang="en-US" sz="1200" dirty="0"/>
          </a:p>
        </p:txBody>
      </p:sp>
      <p:sp>
        <p:nvSpPr>
          <p:cNvPr id="37" name="Shape 31"/>
          <p:cNvSpPr/>
          <p:nvPr/>
        </p:nvSpPr>
        <p:spPr>
          <a:xfrm>
            <a:off x="731520" y="5376672"/>
            <a:ext cx="10728655" cy="694944"/>
          </a:xfrm>
          <a:prstGeom prst="roundRect">
            <a:avLst>
              <a:gd name="adj" fmla="val 7895"/>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38" name="Text 32"/>
          <p:cNvSpPr/>
          <p:nvPr/>
        </p:nvSpPr>
        <p:spPr>
          <a:xfrm>
            <a:off x="914400" y="5376672"/>
            <a:ext cx="731520" cy="694944"/>
          </a:xfrm>
          <a:prstGeom prst="rect">
            <a:avLst/>
          </a:prstGeom>
          <a:noFill/>
          <a:ln/>
        </p:spPr>
        <p:txBody>
          <a:bodyPr wrap="square" lIns="0" tIns="0" rIns="0" bIns="0" rtlCol="0" anchor="ctr"/>
          <a:lstStyle/>
          <a:p>
            <a:pPr indent="0" marL="0">
              <a:buNone/>
            </a:pPr>
            <a:r>
              <a:rPr lang="en-US" sz="2600" b="1" dirty="0">
                <a:solidFill>
                  <a:srgbClr val="D7DEE8"/>
                </a:solidFill>
                <a:latin typeface="Cambria" pitchFamily="34" charset="0"/>
                <a:ea typeface="Cambria" pitchFamily="34" charset="-122"/>
                <a:cs typeface="Cambria" pitchFamily="34" charset="-120"/>
              </a:rPr>
              <a:t>05</a:t>
            </a:r>
            <a:endParaRPr lang="en-US" sz="2600" dirty="0"/>
          </a:p>
        </p:txBody>
      </p:sp>
      <p:sp>
        <p:nvSpPr>
          <p:cNvPr id="39" name="Shape 33"/>
          <p:cNvSpPr/>
          <p:nvPr/>
        </p:nvSpPr>
        <p:spPr>
          <a:xfrm>
            <a:off x="1600200" y="5477256"/>
            <a:ext cx="493776" cy="493776"/>
          </a:xfrm>
          <a:prstGeom prst="ellipse">
            <a:avLst/>
          </a:prstGeom>
          <a:solidFill>
            <a:srgbClr val="E4F3F1"/>
          </a:solidFill>
          <a:ln/>
        </p:spPr>
      </p:sp>
      <p:pic>
        <p:nvPicPr>
          <p:cNvPr id="40" name="Image 4" descr="preencoded.png">    </p:cNvPr>
          <p:cNvPicPr>
            <a:picLocks noChangeAspect="1"/>
          </p:cNvPicPr>
          <p:nvPr/>
        </p:nvPicPr>
        <p:blipFill>
          <a:blip r:embed="rId5"/>
          <a:stretch>
            <a:fillRect/>
          </a:stretch>
        </p:blipFill>
        <p:spPr>
          <a:xfrm>
            <a:off x="1728582" y="5605638"/>
            <a:ext cx="237012" cy="237012"/>
          </a:xfrm>
          <a:prstGeom prst="rect">
            <a:avLst/>
          </a:prstGeom>
        </p:spPr>
      </p:pic>
      <p:sp>
        <p:nvSpPr>
          <p:cNvPr id="41" name="Text 34"/>
          <p:cNvSpPr/>
          <p:nvPr/>
        </p:nvSpPr>
        <p:spPr>
          <a:xfrm>
            <a:off x="2331720" y="5431536"/>
            <a:ext cx="5212080" cy="365760"/>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Admin, Deployment &amp; Roadmap</a:t>
            </a:r>
            <a:endParaRPr lang="en-US" sz="1500" dirty="0"/>
          </a:p>
        </p:txBody>
      </p:sp>
      <p:sp>
        <p:nvSpPr>
          <p:cNvPr id="42" name="Text 35"/>
          <p:cNvSpPr/>
          <p:nvPr/>
        </p:nvSpPr>
        <p:spPr>
          <a:xfrm>
            <a:off x="2331720" y="5760720"/>
            <a:ext cx="5212080" cy="292608"/>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Ops, demo, what's next</a:t>
            </a:r>
            <a:endParaRPr lang="en-US" sz="1100" dirty="0"/>
          </a:p>
        </p:txBody>
      </p:sp>
      <p:sp>
        <p:nvSpPr>
          <p:cNvPr id="43" name="Text 36"/>
          <p:cNvSpPr/>
          <p:nvPr/>
        </p:nvSpPr>
        <p:spPr>
          <a:xfrm>
            <a:off x="7772400" y="5376672"/>
            <a:ext cx="2377440" cy="694944"/>
          </a:xfrm>
          <a:prstGeom prst="rect">
            <a:avLst/>
          </a:prstGeom>
          <a:noFill/>
          <a:ln/>
        </p:spPr>
        <p:txBody>
          <a:bodyPr wrap="square" lIns="0" tIns="0" rIns="0" bIns="0" rtlCol="0" anchor="ctr"/>
          <a:lstStyle/>
          <a:p>
            <a:pPr indent="0" marL="0">
              <a:buNone/>
            </a:pPr>
            <a:r>
              <a:rPr lang="en-US" sz="1200" b="1" dirty="0">
                <a:solidFill>
                  <a:srgbClr val="13877F"/>
                </a:solidFill>
                <a:latin typeface="Calibri" pitchFamily="34" charset="0"/>
                <a:ea typeface="Calibri" pitchFamily="34" charset="-122"/>
                <a:cs typeface="Calibri" pitchFamily="34" charset="-120"/>
              </a:rPr>
              <a:t>Team Member 5</a:t>
            </a:r>
            <a:endParaRPr lang="en-US" sz="1200" dirty="0"/>
          </a:p>
        </p:txBody>
      </p:sp>
      <p:sp>
        <p:nvSpPr>
          <p:cNvPr id="44" name="Text 37"/>
          <p:cNvSpPr/>
          <p:nvPr/>
        </p:nvSpPr>
        <p:spPr>
          <a:xfrm>
            <a:off x="10149840" y="5376672"/>
            <a:ext cx="1188720" cy="694944"/>
          </a:xfrm>
          <a:prstGeom prst="rect">
            <a:avLst/>
          </a:prstGeom>
          <a:noFill/>
          <a:ln/>
        </p:spPr>
        <p:txBody>
          <a:bodyPr wrap="square" lIns="0" tIns="0" rIns="0" bIns="0" rtlCol="0" anchor="ctr"/>
          <a:lstStyle/>
          <a:p>
            <a:pPr algn="r" indent="0" marL="0">
              <a:buNone/>
            </a:pPr>
            <a:r>
              <a:rPr lang="en-US" sz="1200" dirty="0">
                <a:solidFill>
                  <a:srgbClr val="5B6B82"/>
                </a:solidFill>
                <a:latin typeface="Calibri" pitchFamily="34" charset="0"/>
                <a:ea typeface="Calibri" pitchFamily="34" charset="-122"/>
                <a:cs typeface="Calibri" pitchFamily="34" charset="-120"/>
              </a:rPr>
              <a:t>~6 min</a:t>
            </a:r>
            <a:endParaRPr lang="en-US" sz="1200" dirty="0"/>
          </a:p>
        </p:txBody>
      </p:sp>
      <p:sp>
        <p:nvSpPr>
          <p:cNvPr id="45" name="Text 3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22960" y="1371600"/>
            <a:ext cx="3657600" cy="1828800"/>
          </a:xfrm>
          <a:prstGeom prst="rect">
            <a:avLst/>
          </a:prstGeom>
          <a:noFill/>
          <a:ln/>
        </p:spPr>
        <p:txBody>
          <a:bodyPr wrap="square" lIns="0" tIns="0" rIns="0" bIns="0" rtlCol="0" anchor="ctr"/>
          <a:lstStyle/>
          <a:p>
            <a:pPr indent="0" marL="0">
              <a:buNone/>
            </a:pPr>
            <a:r>
              <a:rPr lang="en-US" sz="13000" b="1" dirty="0">
                <a:solidFill>
                  <a:srgbClr val="173257"/>
                </a:solidFill>
                <a:latin typeface="Cambria" pitchFamily="34" charset="0"/>
                <a:ea typeface="Cambria" pitchFamily="34" charset="-122"/>
                <a:cs typeface="Cambria" pitchFamily="34" charset="-120"/>
              </a:rPr>
              <a:t>01</a:t>
            </a:r>
            <a:endParaRPr lang="en-US" sz="13000" dirty="0"/>
          </a:p>
        </p:txBody>
      </p:sp>
      <p:sp>
        <p:nvSpPr>
          <p:cNvPr id="3" name="Shape 1"/>
          <p:cNvSpPr/>
          <p:nvPr/>
        </p:nvSpPr>
        <p:spPr>
          <a:xfrm>
            <a:off x="868680" y="3063240"/>
            <a:ext cx="914400" cy="914400"/>
          </a:xfrm>
          <a:prstGeom prst="ellipse">
            <a:avLst/>
          </a:prstGeom>
          <a:solidFill>
            <a:srgbClr val="13877F"/>
          </a:solidFill>
          <a:ln/>
        </p:spPr>
      </p:sp>
      <p:pic>
        <p:nvPicPr>
          <p:cNvPr id="4" name="Image 0" descr="preencoded.png">    </p:cNvPr>
          <p:cNvPicPr>
            <a:picLocks noChangeAspect="1"/>
          </p:cNvPicPr>
          <p:nvPr/>
        </p:nvPicPr>
        <p:blipFill>
          <a:blip r:embed="rId1"/>
          <a:stretch>
            <a:fillRect/>
          </a:stretch>
        </p:blipFill>
        <p:spPr>
          <a:xfrm>
            <a:off x="1106424" y="3300984"/>
            <a:ext cx="438912" cy="438912"/>
          </a:xfrm>
          <a:prstGeom prst="rect">
            <a:avLst/>
          </a:prstGeom>
        </p:spPr>
      </p:pic>
      <p:sp>
        <p:nvSpPr>
          <p:cNvPr id="5" name="Text 2"/>
          <p:cNvSpPr/>
          <p:nvPr/>
        </p:nvSpPr>
        <p:spPr>
          <a:xfrm>
            <a:off x="2011680" y="3017520"/>
            <a:ext cx="89611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Introduction &amp; Problem</a:t>
            </a:r>
            <a:endParaRPr lang="en-US" sz="3800" dirty="0"/>
          </a:p>
        </p:txBody>
      </p:sp>
      <p:sp>
        <p:nvSpPr>
          <p:cNvPr id="6" name="Text 3"/>
          <p:cNvSpPr/>
          <p:nvPr/>
        </p:nvSpPr>
        <p:spPr>
          <a:xfrm>
            <a:off x="2029968" y="3794760"/>
            <a:ext cx="8686800" cy="457200"/>
          </a:xfrm>
          <a:prstGeom prst="rect">
            <a:avLst/>
          </a:prstGeom>
          <a:noFill/>
          <a:ln/>
        </p:spPr>
        <p:txBody>
          <a:bodyPr wrap="square" lIns="0" tIns="0" rIns="0" bIns="0" rtlCol="0" anchor="ctr"/>
          <a:lstStyle/>
          <a:p>
            <a:pPr indent="0" marL="0">
              <a:buNone/>
            </a:pPr>
            <a:r>
              <a:rPr lang="en-US" sz="1600" dirty="0">
                <a:solidFill>
                  <a:srgbClr val="AFC3E0"/>
                </a:solidFill>
                <a:latin typeface="Calibri" pitchFamily="34" charset="0"/>
                <a:ea typeface="Calibri" pitchFamily="34" charset="-122"/>
                <a:cs typeface="Calibri" pitchFamily="34" charset="-120"/>
              </a:rPr>
              <a:t>Why an ICU needs a system like this</a:t>
            </a:r>
            <a:endParaRPr lang="en-US" sz="1600" dirty="0"/>
          </a:p>
        </p:txBody>
      </p:sp>
      <p:sp>
        <p:nvSpPr>
          <p:cNvPr id="7" name="Shape 4"/>
          <p:cNvSpPr/>
          <p:nvPr/>
        </p:nvSpPr>
        <p:spPr>
          <a:xfrm>
            <a:off x="2029968" y="4480560"/>
            <a:ext cx="2743200" cy="502920"/>
          </a:xfrm>
          <a:prstGeom prst="roundRect">
            <a:avLst>
              <a:gd name="adj" fmla="val 14545"/>
            </a:avLst>
          </a:prstGeom>
          <a:solidFill>
            <a:srgbClr val="081B33"/>
          </a:solidFill>
          <a:ln w="12700">
            <a:solidFill>
              <a:srgbClr val="13877F"/>
            </a:solidFill>
            <a:prstDash val="solid"/>
          </a:ln>
        </p:spPr>
      </p:sp>
      <p:sp>
        <p:nvSpPr>
          <p:cNvPr id="8" name="Text 5"/>
          <p:cNvSpPr/>
          <p:nvPr/>
        </p:nvSpPr>
        <p:spPr>
          <a:xfrm>
            <a:off x="2029968" y="4480560"/>
            <a:ext cx="2743200" cy="502920"/>
          </a:xfrm>
          <a:prstGeom prst="rect">
            <a:avLst/>
          </a:prstGeom>
          <a:noFill/>
          <a:ln/>
        </p:spPr>
        <p:txBody>
          <a:bodyPr wrap="square" lIns="0" tIns="0" rIns="0" bIns="0" rtlCol="0" anchor="ctr"/>
          <a:lstStyle/>
          <a:p>
            <a:pPr algn="ctr" indent="0" marL="0">
              <a:buNone/>
            </a:pPr>
            <a:r>
              <a:rPr lang="en-US" sz="1050" b="1" dirty="0">
                <a:solidFill>
                  <a:srgbClr val="13877F"/>
                </a:solidFill>
                <a:latin typeface="Calibri" pitchFamily="34" charset="0"/>
                <a:ea typeface="Calibri" pitchFamily="34" charset="-122"/>
                <a:cs typeface="Calibri" pitchFamily="34" charset="-120"/>
              </a:rPr>
              <a:t>PRESENTED BY  TEAM MEMBER 1</a:t>
            </a:r>
            <a:endParaRPr lang="en-US" sz="10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C7089"/>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ICU Workflows Are Fragmented</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Critical information is scattered across paper charts, spreadsheets, and disconnected systems.</a:t>
            </a:r>
            <a:endParaRPr lang="en-US" sz="1350" dirty="0"/>
          </a:p>
        </p:txBody>
      </p:sp>
      <p:sp>
        <p:nvSpPr>
          <p:cNvPr id="5" name="Shape 3"/>
          <p:cNvSpPr/>
          <p:nvPr/>
        </p:nvSpPr>
        <p:spPr>
          <a:xfrm>
            <a:off x="731520" y="2176272"/>
            <a:ext cx="585216" cy="585216"/>
          </a:xfrm>
          <a:prstGeom prst="ellipse">
            <a:avLst/>
          </a:prstGeom>
          <a:solidFill>
            <a:srgbClr val="E4F3F1"/>
          </a:solidFill>
          <a:ln/>
        </p:spPr>
      </p:sp>
      <p:pic>
        <p:nvPicPr>
          <p:cNvPr id="6" name="Image 0" descr="preencoded.png">    </p:cNvPr>
          <p:cNvPicPr>
            <a:picLocks noChangeAspect="1"/>
          </p:cNvPicPr>
          <p:nvPr/>
        </p:nvPicPr>
        <p:blipFill>
          <a:blip r:embed="rId1"/>
          <a:stretch>
            <a:fillRect/>
          </a:stretch>
        </p:blipFill>
        <p:spPr>
          <a:xfrm>
            <a:off x="883676" y="2328428"/>
            <a:ext cx="280904" cy="280904"/>
          </a:xfrm>
          <a:prstGeom prst="rect">
            <a:avLst/>
          </a:prstGeom>
        </p:spPr>
      </p:pic>
      <p:sp>
        <p:nvSpPr>
          <p:cNvPr id="7" name="Text 4"/>
          <p:cNvSpPr/>
          <p:nvPr/>
        </p:nvSpPr>
        <p:spPr>
          <a:xfrm>
            <a:off x="1600200" y="198424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Delayed access to critical information</a:t>
            </a:r>
            <a:endParaRPr lang="en-US" sz="1500" dirty="0"/>
          </a:p>
        </p:txBody>
      </p:sp>
      <p:sp>
        <p:nvSpPr>
          <p:cNvPr id="8" name="Text 5"/>
          <p:cNvSpPr/>
          <p:nvPr/>
        </p:nvSpPr>
        <p:spPr>
          <a:xfrm>
            <a:off x="1600200" y="233172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Nurses and physicians spend valuable time searching for vitals, labs, and notes instead of delivering care.</a:t>
            </a:r>
            <a:endParaRPr lang="en-US" sz="1250" dirty="0"/>
          </a:p>
        </p:txBody>
      </p:sp>
      <p:sp>
        <p:nvSpPr>
          <p:cNvPr id="9" name="Shape 6"/>
          <p:cNvSpPr/>
          <p:nvPr/>
        </p:nvSpPr>
        <p:spPr>
          <a:xfrm>
            <a:off x="731520" y="3182112"/>
            <a:ext cx="585216" cy="585216"/>
          </a:xfrm>
          <a:prstGeom prst="ellipse">
            <a:avLst/>
          </a:prstGeom>
          <a:solidFill>
            <a:srgbClr val="E4F3F1"/>
          </a:solidFill>
          <a:ln/>
        </p:spPr>
      </p:sp>
      <p:pic>
        <p:nvPicPr>
          <p:cNvPr id="10" name="Image 1" descr="preencoded.png">    </p:cNvPr>
          <p:cNvPicPr>
            <a:picLocks noChangeAspect="1"/>
          </p:cNvPicPr>
          <p:nvPr/>
        </p:nvPicPr>
        <p:blipFill>
          <a:blip r:embed="rId2"/>
          <a:stretch>
            <a:fillRect/>
          </a:stretch>
        </p:blipFill>
        <p:spPr>
          <a:xfrm>
            <a:off x="883676" y="3334268"/>
            <a:ext cx="280904" cy="280904"/>
          </a:xfrm>
          <a:prstGeom prst="rect">
            <a:avLst/>
          </a:prstGeom>
        </p:spPr>
      </p:pic>
      <p:sp>
        <p:nvSpPr>
          <p:cNvPr id="11" name="Text 7"/>
          <p:cNvSpPr/>
          <p:nvPr/>
        </p:nvSpPr>
        <p:spPr>
          <a:xfrm>
            <a:off x="1600200" y="299008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High cognitive load during high-pressure shifts</a:t>
            </a:r>
            <a:endParaRPr lang="en-US" sz="1500" dirty="0"/>
          </a:p>
        </p:txBody>
      </p:sp>
      <p:sp>
        <p:nvSpPr>
          <p:cNvPr id="12" name="Text 8"/>
          <p:cNvSpPr/>
          <p:nvPr/>
        </p:nvSpPr>
        <p:spPr>
          <a:xfrm>
            <a:off x="1600200" y="333756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Piecing together a patient's trajectory across shifts from paper charts is slow and error-prone.</a:t>
            </a:r>
            <a:endParaRPr lang="en-US" sz="1250" dirty="0"/>
          </a:p>
        </p:txBody>
      </p:sp>
      <p:sp>
        <p:nvSpPr>
          <p:cNvPr id="13" name="Shape 9"/>
          <p:cNvSpPr/>
          <p:nvPr/>
        </p:nvSpPr>
        <p:spPr>
          <a:xfrm>
            <a:off x="731520" y="4187952"/>
            <a:ext cx="585216" cy="585216"/>
          </a:xfrm>
          <a:prstGeom prst="ellipse">
            <a:avLst/>
          </a:prstGeom>
          <a:solidFill>
            <a:srgbClr val="E4F3F1"/>
          </a:solidFill>
          <a:ln/>
        </p:spPr>
      </p:sp>
      <p:pic>
        <p:nvPicPr>
          <p:cNvPr id="14" name="Image 2" descr="preencoded.png">    </p:cNvPr>
          <p:cNvPicPr>
            <a:picLocks noChangeAspect="1"/>
          </p:cNvPicPr>
          <p:nvPr/>
        </p:nvPicPr>
        <p:blipFill>
          <a:blip r:embed="rId3"/>
          <a:stretch>
            <a:fillRect/>
          </a:stretch>
        </p:blipFill>
        <p:spPr>
          <a:xfrm>
            <a:off x="883676" y="4340108"/>
            <a:ext cx="280904" cy="280904"/>
          </a:xfrm>
          <a:prstGeom prst="rect">
            <a:avLst/>
          </a:prstGeom>
        </p:spPr>
      </p:pic>
      <p:sp>
        <p:nvSpPr>
          <p:cNvPr id="15" name="Text 10"/>
          <p:cNvSpPr/>
          <p:nvPr/>
        </p:nvSpPr>
        <p:spPr>
          <a:xfrm>
            <a:off x="1600200" y="399592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Subtle deterioration trends go unnoticed</a:t>
            </a:r>
            <a:endParaRPr lang="en-US" sz="1500" dirty="0"/>
          </a:p>
        </p:txBody>
      </p:sp>
      <p:sp>
        <p:nvSpPr>
          <p:cNvPr id="16" name="Text 11"/>
          <p:cNvSpPr/>
          <p:nvPr/>
        </p:nvSpPr>
        <p:spPr>
          <a:xfrm>
            <a:off x="1600200" y="434340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Multi-variable warning signs (falling BP + rising pulse + fever) can cross a critical threshold before anyone connects the dots.</a:t>
            </a:r>
            <a:endParaRPr lang="en-US" sz="1250" dirty="0"/>
          </a:p>
        </p:txBody>
      </p:sp>
      <p:sp>
        <p:nvSpPr>
          <p:cNvPr id="17" name="Shape 12"/>
          <p:cNvSpPr/>
          <p:nvPr/>
        </p:nvSpPr>
        <p:spPr>
          <a:xfrm>
            <a:off x="731520" y="5193792"/>
            <a:ext cx="585216" cy="585216"/>
          </a:xfrm>
          <a:prstGeom prst="ellipse">
            <a:avLst/>
          </a:prstGeom>
          <a:solidFill>
            <a:srgbClr val="E4F3F1"/>
          </a:solidFill>
          <a:ln/>
        </p:spPr>
      </p:sp>
      <p:pic>
        <p:nvPicPr>
          <p:cNvPr id="18" name="Image 3" descr="preencoded.png">    </p:cNvPr>
          <p:cNvPicPr>
            <a:picLocks noChangeAspect="1"/>
          </p:cNvPicPr>
          <p:nvPr/>
        </p:nvPicPr>
        <p:blipFill>
          <a:blip r:embed="rId4"/>
          <a:stretch>
            <a:fillRect/>
          </a:stretch>
        </p:blipFill>
        <p:spPr>
          <a:xfrm>
            <a:off x="883676" y="5345948"/>
            <a:ext cx="280904" cy="280904"/>
          </a:xfrm>
          <a:prstGeom prst="rect">
            <a:avLst/>
          </a:prstGeom>
        </p:spPr>
      </p:pic>
      <p:sp>
        <p:nvSpPr>
          <p:cNvPr id="19" name="Text 13"/>
          <p:cNvSpPr/>
          <p:nvPr/>
        </p:nvSpPr>
        <p:spPr>
          <a:xfrm>
            <a:off x="1600200" y="500176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Reduced efficiency exactly when seconds matter</a:t>
            </a:r>
            <a:endParaRPr lang="en-US" sz="1500" dirty="0"/>
          </a:p>
        </p:txBody>
      </p:sp>
      <p:sp>
        <p:nvSpPr>
          <p:cNvPr id="20" name="Text 14"/>
          <p:cNvSpPr/>
          <p:nvPr/>
        </p:nvSpPr>
        <p:spPr>
          <a:xfrm>
            <a:off x="1600200" y="534924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Every extra minute spent searching for information is a minute not spent on the patient.</a:t>
            </a:r>
            <a:endParaRPr lang="en-US" sz="1250" dirty="0"/>
          </a:p>
        </p:txBody>
      </p:sp>
      <p:sp>
        <p:nvSpPr>
          <p:cNvPr id="21"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OUR OBJECTIVES</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What We Set Out To Build</a:t>
            </a:r>
            <a:endParaRPr lang="en-US" sz="3000" dirty="0"/>
          </a:p>
        </p:txBody>
      </p:sp>
      <p:sp>
        <p:nvSpPr>
          <p:cNvPr id="4" name="Shape 2"/>
          <p:cNvSpPr/>
          <p:nvPr/>
        </p:nvSpPr>
        <p:spPr>
          <a:xfrm>
            <a:off x="731520" y="1936242"/>
            <a:ext cx="585216" cy="585216"/>
          </a:xfrm>
          <a:prstGeom prst="ellipse">
            <a:avLst/>
          </a:prstGeom>
          <a:solidFill>
            <a:srgbClr val="E4F3F1"/>
          </a:solidFill>
          <a:ln/>
        </p:spPr>
      </p:sp>
      <p:pic>
        <p:nvPicPr>
          <p:cNvPr id="5" name="Image 0" descr="preencoded.png">    </p:cNvPr>
          <p:cNvPicPr>
            <a:picLocks noChangeAspect="1"/>
          </p:cNvPicPr>
          <p:nvPr/>
        </p:nvPicPr>
        <p:blipFill>
          <a:blip r:embed="rId1"/>
          <a:stretch>
            <a:fillRect/>
          </a:stretch>
        </p:blipFill>
        <p:spPr>
          <a:xfrm>
            <a:off x="883676" y="2088398"/>
            <a:ext cx="280904" cy="280904"/>
          </a:xfrm>
          <a:prstGeom prst="rect">
            <a:avLst/>
          </a:prstGeom>
        </p:spPr>
      </p:pic>
      <p:sp>
        <p:nvSpPr>
          <p:cNvPr id="6" name="Text 3"/>
          <p:cNvSpPr/>
          <p:nvPr/>
        </p:nvSpPr>
        <p:spPr>
          <a:xfrm>
            <a:off x="1600200" y="170992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A centralized, paperless ICU platform</a:t>
            </a:r>
            <a:endParaRPr lang="en-US" sz="1500" dirty="0"/>
          </a:p>
        </p:txBody>
      </p:sp>
      <p:sp>
        <p:nvSpPr>
          <p:cNvPr id="7" name="Text 4"/>
          <p:cNvSpPr/>
          <p:nvPr/>
        </p:nvSpPr>
        <p:spPr>
          <a:xfrm>
            <a:off x="1600200" y="205740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One system for demographics, vitals, medications, labs, diagnoses, and notes — replacing scattered paper and spreadsheets.</a:t>
            </a:r>
            <a:endParaRPr lang="en-US" sz="1250" dirty="0"/>
          </a:p>
        </p:txBody>
      </p:sp>
      <p:sp>
        <p:nvSpPr>
          <p:cNvPr id="8" name="Shape 5"/>
          <p:cNvSpPr/>
          <p:nvPr/>
        </p:nvSpPr>
        <p:spPr>
          <a:xfrm>
            <a:off x="731520" y="3010662"/>
            <a:ext cx="585216" cy="585216"/>
          </a:xfrm>
          <a:prstGeom prst="ellipse">
            <a:avLst/>
          </a:prstGeom>
          <a:solidFill>
            <a:srgbClr val="E4F3F1"/>
          </a:solidFill>
          <a:ln/>
        </p:spPr>
      </p:sp>
      <p:pic>
        <p:nvPicPr>
          <p:cNvPr id="9" name="Image 1" descr="preencoded.png">    </p:cNvPr>
          <p:cNvPicPr>
            <a:picLocks noChangeAspect="1"/>
          </p:cNvPicPr>
          <p:nvPr/>
        </p:nvPicPr>
        <p:blipFill>
          <a:blip r:embed="rId2"/>
          <a:stretch>
            <a:fillRect/>
          </a:stretch>
        </p:blipFill>
        <p:spPr>
          <a:xfrm>
            <a:off x="883676" y="3162818"/>
            <a:ext cx="280904" cy="280904"/>
          </a:xfrm>
          <a:prstGeom prst="rect">
            <a:avLst/>
          </a:prstGeom>
        </p:spPr>
      </p:pic>
      <p:sp>
        <p:nvSpPr>
          <p:cNvPr id="10" name="Text 6"/>
          <p:cNvSpPr/>
          <p:nvPr/>
        </p:nvSpPr>
        <p:spPr>
          <a:xfrm>
            <a:off x="1600200" y="278434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Strict, role-based access control</a:t>
            </a:r>
            <a:endParaRPr lang="en-US" sz="1500" dirty="0"/>
          </a:p>
        </p:txBody>
      </p:sp>
      <p:sp>
        <p:nvSpPr>
          <p:cNvPr id="11" name="Text 7"/>
          <p:cNvSpPr/>
          <p:nvPr/>
        </p:nvSpPr>
        <p:spPr>
          <a:xfrm>
            <a:off x="1600200" y="313182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Four distinct roles, each seeing exactly what their job requires — nothing more.</a:t>
            </a:r>
            <a:endParaRPr lang="en-US" sz="1250" dirty="0"/>
          </a:p>
        </p:txBody>
      </p:sp>
      <p:sp>
        <p:nvSpPr>
          <p:cNvPr id="12" name="Shape 8"/>
          <p:cNvSpPr/>
          <p:nvPr/>
        </p:nvSpPr>
        <p:spPr>
          <a:xfrm>
            <a:off x="731520" y="4085082"/>
            <a:ext cx="585216" cy="585216"/>
          </a:xfrm>
          <a:prstGeom prst="ellipse">
            <a:avLst/>
          </a:prstGeom>
          <a:solidFill>
            <a:srgbClr val="E4F3F1"/>
          </a:solidFill>
          <a:ln/>
        </p:spPr>
      </p:sp>
      <p:pic>
        <p:nvPicPr>
          <p:cNvPr id="13" name="Image 2" descr="preencoded.png">    </p:cNvPr>
          <p:cNvPicPr>
            <a:picLocks noChangeAspect="1"/>
          </p:cNvPicPr>
          <p:nvPr/>
        </p:nvPicPr>
        <p:blipFill>
          <a:blip r:embed="rId3"/>
          <a:stretch>
            <a:fillRect/>
          </a:stretch>
        </p:blipFill>
        <p:spPr>
          <a:xfrm>
            <a:off x="883676" y="4237238"/>
            <a:ext cx="280904" cy="280904"/>
          </a:xfrm>
          <a:prstGeom prst="rect">
            <a:avLst/>
          </a:prstGeom>
        </p:spPr>
      </p:pic>
      <p:sp>
        <p:nvSpPr>
          <p:cNvPr id="14" name="Text 9"/>
          <p:cNvSpPr/>
          <p:nvPr/>
        </p:nvSpPr>
        <p:spPr>
          <a:xfrm>
            <a:off x="1600200" y="385876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AI that reduces cognitive load, not just stores data</a:t>
            </a:r>
            <a:endParaRPr lang="en-US" sz="1500" dirty="0"/>
          </a:p>
        </p:txBody>
      </p:sp>
      <p:sp>
        <p:nvSpPr>
          <p:cNvPr id="15" name="Text 10"/>
          <p:cNvSpPr/>
          <p:nvPr/>
        </p:nvSpPr>
        <p:spPr>
          <a:xfrm>
            <a:off x="1600200" y="420624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One-click summaries, a source-cited conversational assistant, and proactive deterioration alerts.</a:t>
            </a:r>
            <a:endParaRPr lang="en-US" sz="1250" dirty="0"/>
          </a:p>
        </p:txBody>
      </p:sp>
      <p:sp>
        <p:nvSpPr>
          <p:cNvPr id="16" name="Shape 11"/>
          <p:cNvSpPr/>
          <p:nvPr/>
        </p:nvSpPr>
        <p:spPr>
          <a:xfrm>
            <a:off x="731520" y="5159502"/>
            <a:ext cx="585216" cy="585216"/>
          </a:xfrm>
          <a:prstGeom prst="ellipse">
            <a:avLst/>
          </a:prstGeom>
          <a:solidFill>
            <a:srgbClr val="E4F3F1"/>
          </a:solidFill>
          <a:ln/>
        </p:spPr>
      </p:sp>
      <p:pic>
        <p:nvPicPr>
          <p:cNvPr id="17" name="Image 3" descr="preencoded.png">    </p:cNvPr>
          <p:cNvPicPr>
            <a:picLocks noChangeAspect="1"/>
          </p:cNvPicPr>
          <p:nvPr/>
        </p:nvPicPr>
        <p:blipFill>
          <a:blip r:embed="rId4"/>
          <a:stretch>
            <a:fillRect/>
          </a:stretch>
        </p:blipFill>
        <p:spPr>
          <a:xfrm>
            <a:off x="883676" y="5311658"/>
            <a:ext cx="280904" cy="280904"/>
          </a:xfrm>
          <a:prstGeom prst="rect">
            <a:avLst/>
          </a:prstGeom>
        </p:spPr>
      </p:pic>
      <p:sp>
        <p:nvSpPr>
          <p:cNvPr id="18" name="Text 12"/>
          <p:cNvSpPr/>
          <p:nvPr/>
        </p:nvSpPr>
        <p:spPr>
          <a:xfrm>
            <a:off x="1600200" y="493318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Full auditability and non-destructive data retention</a:t>
            </a:r>
            <a:endParaRPr lang="en-US" sz="1500" dirty="0"/>
          </a:p>
        </p:txBody>
      </p:sp>
      <p:sp>
        <p:nvSpPr>
          <p:cNvPr id="19" name="Text 13"/>
          <p:cNvSpPr/>
          <p:nvPr/>
        </p:nvSpPr>
        <p:spPr>
          <a:xfrm>
            <a:off x="1600200" y="528066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Every action logged, nothing ever hard-deleted — for legal and clinical compliance.</a:t>
            </a:r>
            <a:endParaRPr lang="en-US" sz="1250" dirty="0"/>
          </a:p>
        </p:txBody>
      </p:sp>
      <p:sp>
        <p:nvSpPr>
          <p:cNvPr id="20" name="Text 14"/>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WHO USES IT</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Four Roles, One System</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Every screen and every endpoint is scoped to exactly one of these roles.</a:t>
            </a:r>
            <a:endParaRPr lang="en-US" sz="1350" dirty="0"/>
          </a:p>
        </p:txBody>
      </p:sp>
      <p:sp>
        <p:nvSpPr>
          <p:cNvPr id="5" name="Shape 3"/>
          <p:cNvSpPr/>
          <p:nvPr/>
        </p:nvSpPr>
        <p:spPr>
          <a:xfrm>
            <a:off x="731520" y="1965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6" name="Shape 4"/>
          <p:cNvSpPr/>
          <p:nvPr/>
        </p:nvSpPr>
        <p:spPr>
          <a:xfrm>
            <a:off x="987552" y="2203704"/>
            <a:ext cx="512064" cy="512064"/>
          </a:xfrm>
          <a:prstGeom prst="ellipse">
            <a:avLst/>
          </a:prstGeom>
          <a:solidFill>
            <a:srgbClr val="E4F3F1"/>
          </a:solidFill>
          <a:ln/>
        </p:spPr>
      </p:sp>
      <p:pic>
        <p:nvPicPr>
          <p:cNvPr id="7" name="Image 0" descr="preencoded.png">    </p:cNvPr>
          <p:cNvPicPr>
            <a:picLocks noChangeAspect="1"/>
          </p:cNvPicPr>
          <p:nvPr/>
        </p:nvPicPr>
        <p:blipFill>
          <a:blip r:embed="rId1"/>
          <a:stretch>
            <a:fillRect/>
          </a:stretch>
        </p:blipFill>
        <p:spPr>
          <a:xfrm>
            <a:off x="1120689" y="2336841"/>
            <a:ext cx="245791" cy="245791"/>
          </a:xfrm>
          <a:prstGeom prst="rect">
            <a:avLst/>
          </a:prstGeom>
        </p:spPr>
      </p:pic>
      <p:sp>
        <p:nvSpPr>
          <p:cNvPr id="8" name="Text 5"/>
          <p:cNvSpPr/>
          <p:nvPr/>
        </p:nvSpPr>
        <p:spPr>
          <a:xfrm>
            <a:off x="987552" y="2834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System Admin</a:t>
            </a:r>
            <a:endParaRPr lang="en-US" sz="1350" dirty="0"/>
          </a:p>
        </p:txBody>
      </p:sp>
      <p:sp>
        <p:nvSpPr>
          <p:cNvPr id="9" name="Text 6"/>
          <p:cNvSpPr/>
          <p:nvPr/>
        </p:nvSpPr>
        <p:spPr>
          <a:xfrm>
            <a:off x="987552" y="3172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Provisions accounts, manages beds, reviews the audit trail and login attempts — zero access to clinical data.</a:t>
            </a:r>
            <a:endParaRPr lang="en-US" sz="1100" dirty="0"/>
          </a:p>
        </p:txBody>
      </p:sp>
      <p:sp>
        <p:nvSpPr>
          <p:cNvPr id="10" name="Shape 7"/>
          <p:cNvSpPr/>
          <p:nvPr/>
        </p:nvSpPr>
        <p:spPr>
          <a:xfrm>
            <a:off x="6233008" y="1965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1" name="Shape 8"/>
          <p:cNvSpPr/>
          <p:nvPr/>
        </p:nvSpPr>
        <p:spPr>
          <a:xfrm>
            <a:off x="6489040" y="2203704"/>
            <a:ext cx="512064" cy="512064"/>
          </a:xfrm>
          <a:prstGeom prst="ellipse">
            <a:avLst/>
          </a:prstGeom>
          <a:solidFill>
            <a:srgbClr val="E4F3F1"/>
          </a:solidFill>
          <a:ln/>
        </p:spPr>
      </p:sp>
      <p:pic>
        <p:nvPicPr>
          <p:cNvPr id="12" name="Image 1" descr="preencoded.png">    </p:cNvPr>
          <p:cNvPicPr>
            <a:picLocks noChangeAspect="1"/>
          </p:cNvPicPr>
          <p:nvPr/>
        </p:nvPicPr>
        <p:blipFill>
          <a:blip r:embed="rId2"/>
          <a:stretch>
            <a:fillRect/>
          </a:stretch>
        </p:blipFill>
        <p:spPr>
          <a:xfrm>
            <a:off x="6622176" y="2336841"/>
            <a:ext cx="245791" cy="245791"/>
          </a:xfrm>
          <a:prstGeom prst="rect">
            <a:avLst/>
          </a:prstGeom>
        </p:spPr>
      </p:pic>
      <p:sp>
        <p:nvSpPr>
          <p:cNvPr id="13" name="Text 9"/>
          <p:cNvSpPr/>
          <p:nvPr/>
        </p:nvSpPr>
        <p:spPr>
          <a:xfrm>
            <a:off x="6489040" y="2834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ICU Nurse</a:t>
            </a:r>
            <a:endParaRPr lang="en-US" sz="1350" dirty="0"/>
          </a:p>
        </p:txBody>
      </p:sp>
      <p:sp>
        <p:nvSpPr>
          <p:cNvPr id="14" name="Text 10"/>
          <p:cNvSpPr/>
          <p:nvPr/>
        </p:nvSpPr>
        <p:spPr>
          <a:xfrm>
            <a:off x="6489040" y="3172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Admits patients, records vitals, administers medications, uploads documents.</a:t>
            </a:r>
            <a:endParaRPr lang="en-US" sz="1100" dirty="0"/>
          </a:p>
        </p:txBody>
      </p:sp>
      <p:sp>
        <p:nvSpPr>
          <p:cNvPr id="15" name="Shape 11"/>
          <p:cNvSpPr/>
          <p:nvPr/>
        </p:nvSpPr>
        <p:spPr>
          <a:xfrm>
            <a:off x="731520" y="4251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6" name="Shape 12"/>
          <p:cNvSpPr/>
          <p:nvPr/>
        </p:nvSpPr>
        <p:spPr>
          <a:xfrm>
            <a:off x="987552" y="4489704"/>
            <a:ext cx="512064" cy="512064"/>
          </a:xfrm>
          <a:prstGeom prst="ellipse">
            <a:avLst/>
          </a:prstGeom>
          <a:solidFill>
            <a:srgbClr val="E4F3F1"/>
          </a:solidFill>
          <a:ln/>
        </p:spPr>
      </p:sp>
      <p:pic>
        <p:nvPicPr>
          <p:cNvPr id="17" name="Image 2" descr="preencoded.png">    </p:cNvPr>
          <p:cNvPicPr>
            <a:picLocks noChangeAspect="1"/>
          </p:cNvPicPr>
          <p:nvPr/>
        </p:nvPicPr>
        <p:blipFill>
          <a:blip r:embed="rId3"/>
          <a:stretch>
            <a:fillRect/>
          </a:stretch>
        </p:blipFill>
        <p:spPr>
          <a:xfrm>
            <a:off x="1120689" y="4622841"/>
            <a:ext cx="245791" cy="245791"/>
          </a:xfrm>
          <a:prstGeom prst="rect">
            <a:avLst/>
          </a:prstGeom>
        </p:spPr>
      </p:pic>
      <p:sp>
        <p:nvSpPr>
          <p:cNvPr id="18" name="Text 13"/>
          <p:cNvSpPr/>
          <p:nvPr/>
        </p:nvSpPr>
        <p:spPr>
          <a:xfrm>
            <a:off x="987552" y="5120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Medical Resident</a:t>
            </a:r>
            <a:endParaRPr lang="en-US" sz="1350" dirty="0"/>
          </a:p>
        </p:txBody>
      </p:sp>
      <p:sp>
        <p:nvSpPr>
          <p:cNvPr id="19" name="Text 14"/>
          <p:cNvSpPr/>
          <p:nvPr/>
        </p:nvSpPr>
        <p:spPr>
          <a:xfrm>
            <a:off x="987552" y="5458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Full clinical read/write — examinations, diagnoses, SOAP follow-ups, AI assistant.</a:t>
            </a:r>
            <a:endParaRPr lang="en-US" sz="1100" dirty="0"/>
          </a:p>
        </p:txBody>
      </p:sp>
      <p:sp>
        <p:nvSpPr>
          <p:cNvPr id="20" name="Shape 15"/>
          <p:cNvSpPr/>
          <p:nvPr/>
        </p:nvSpPr>
        <p:spPr>
          <a:xfrm>
            <a:off x="6233008" y="4251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1" name="Shape 16"/>
          <p:cNvSpPr/>
          <p:nvPr/>
        </p:nvSpPr>
        <p:spPr>
          <a:xfrm>
            <a:off x="6489040" y="4489704"/>
            <a:ext cx="512064" cy="512064"/>
          </a:xfrm>
          <a:prstGeom prst="ellipse">
            <a:avLst/>
          </a:prstGeom>
          <a:solidFill>
            <a:srgbClr val="E4F3F1"/>
          </a:solidFill>
          <a:ln/>
        </p:spPr>
      </p:sp>
      <p:pic>
        <p:nvPicPr>
          <p:cNvPr id="22" name="Image 3" descr="preencoded.png">    </p:cNvPr>
          <p:cNvPicPr>
            <a:picLocks noChangeAspect="1"/>
          </p:cNvPicPr>
          <p:nvPr/>
        </p:nvPicPr>
        <p:blipFill>
          <a:blip r:embed="rId4"/>
          <a:stretch>
            <a:fillRect/>
          </a:stretch>
        </p:blipFill>
        <p:spPr>
          <a:xfrm>
            <a:off x="6622176" y="4622841"/>
            <a:ext cx="245791" cy="245791"/>
          </a:xfrm>
          <a:prstGeom prst="rect">
            <a:avLst/>
          </a:prstGeom>
        </p:spPr>
      </p:pic>
      <p:sp>
        <p:nvSpPr>
          <p:cNvPr id="23" name="Text 17"/>
          <p:cNvSpPr/>
          <p:nvPr/>
        </p:nvSpPr>
        <p:spPr>
          <a:xfrm>
            <a:off x="6489040" y="5120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ICU Specialist</a:t>
            </a:r>
            <a:endParaRPr lang="en-US" sz="1350" dirty="0"/>
          </a:p>
        </p:txBody>
      </p:sp>
      <p:sp>
        <p:nvSpPr>
          <p:cNvPr id="24" name="Text 18"/>
          <p:cNvSpPr/>
          <p:nvPr/>
        </p:nvSpPr>
        <p:spPr>
          <a:xfrm>
            <a:off x="6489040" y="5458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Everything a Resident can do, plus treatment approval and the sole authority to discharge.</a:t>
            </a:r>
            <a:endParaRPr lang="en-US" sz="1100" dirty="0"/>
          </a:p>
        </p:txBody>
      </p:sp>
      <p:sp>
        <p:nvSpPr>
          <p:cNvPr id="25" name="Text 1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22960" y="1371600"/>
            <a:ext cx="3657600" cy="1828800"/>
          </a:xfrm>
          <a:prstGeom prst="rect">
            <a:avLst/>
          </a:prstGeom>
          <a:noFill/>
          <a:ln/>
        </p:spPr>
        <p:txBody>
          <a:bodyPr wrap="square" lIns="0" tIns="0" rIns="0" bIns="0" rtlCol="0" anchor="ctr"/>
          <a:lstStyle/>
          <a:p>
            <a:pPr indent="0" marL="0">
              <a:buNone/>
            </a:pPr>
            <a:r>
              <a:rPr lang="en-US" sz="13000" b="1" dirty="0">
                <a:solidFill>
                  <a:srgbClr val="173257"/>
                </a:solidFill>
                <a:latin typeface="Cambria" pitchFamily="34" charset="0"/>
                <a:ea typeface="Cambria" pitchFamily="34" charset="-122"/>
                <a:cs typeface="Cambria" pitchFamily="34" charset="-120"/>
              </a:rPr>
              <a:t>02</a:t>
            </a:r>
            <a:endParaRPr lang="en-US" sz="13000" dirty="0"/>
          </a:p>
        </p:txBody>
      </p:sp>
      <p:sp>
        <p:nvSpPr>
          <p:cNvPr id="3" name="Shape 1"/>
          <p:cNvSpPr/>
          <p:nvPr/>
        </p:nvSpPr>
        <p:spPr>
          <a:xfrm>
            <a:off x="868680" y="3063240"/>
            <a:ext cx="914400" cy="914400"/>
          </a:xfrm>
          <a:prstGeom prst="ellipse">
            <a:avLst/>
          </a:prstGeom>
          <a:solidFill>
            <a:srgbClr val="13877F"/>
          </a:solidFill>
          <a:ln/>
        </p:spPr>
      </p:sp>
      <p:pic>
        <p:nvPicPr>
          <p:cNvPr id="4" name="Image 0" descr="preencoded.png">    </p:cNvPr>
          <p:cNvPicPr>
            <a:picLocks noChangeAspect="1"/>
          </p:cNvPicPr>
          <p:nvPr/>
        </p:nvPicPr>
        <p:blipFill>
          <a:blip r:embed="rId1"/>
          <a:stretch>
            <a:fillRect/>
          </a:stretch>
        </p:blipFill>
        <p:spPr>
          <a:xfrm>
            <a:off x="1106424" y="3300984"/>
            <a:ext cx="438912" cy="438912"/>
          </a:xfrm>
          <a:prstGeom prst="rect">
            <a:avLst/>
          </a:prstGeom>
        </p:spPr>
      </p:pic>
      <p:sp>
        <p:nvSpPr>
          <p:cNvPr id="5" name="Text 2"/>
          <p:cNvSpPr/>
          <p:nvPr/>
        </p:nvSpPr>
        <p:spPr>
          <a:xfrm>
            <a:off x="2011680" y="3017520"/>
            <a:ext cx="89611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System Design &amp; Architecture</a:t>
            </a:r>
            <a:endParaRPr lang="en-US" sz="3800" dirty="0"/>
          </a:p>
        </p:txBody>
      </p:sp>
      <p:sp>
        <p:nvSpPr>
          <p:cNvPr id="6" name="Text 3"/>
          <p:cNvSpPr/>
          <p:nvPr/>
        </p:nvSpPr>
        <p:spPr>
          <a:xfrm>
            <a:off x="2029968" y="3794760"/>
            <a:ext cx="8686800" cy="457200"/>
          </a:xfrm>
          <a:prstGeom prst="rect">
            <a:avLst/>
          </a:prstGeom>
          <a:noFill/>
          <a:ln/>
        </p:spPr>
        <p:txBody>
          <a:bodyPr wrap="square" lIns="0" tIns="0" rIns="0" bIns="0" rtlCol="0" anchor="ctr"/>
          <a:lstStyle/>
          <a:p>
            <a:pPr indent="0" marL="0">
              <a:buNone/>
            </a:pPr>
            <a:r>
              <a:rPr lang="en-US" sz="1600" dirty="0">
                <a:solidFill>
                  <a:srgbClr val="AFC3E0"/>
                </a:solidFill>
                <a:latin typeface="Calibri" pitchFamily="34" charset="0"/>
                <a:ea typeface="Calibri" pitchFamily="34" charset="-122"/>
                <a:cs typeface="Calibri" pitchFamily="34" charset="-120"/>
              </a:rPr>
              <a:t>The stack, the data model, and how we secured it</a:t>
            </a:r>
            <a:endParaRPr lang="en-US" sz="1600" dirty="0"/>
          </a:p>
        </p:txBody>
      </p:sp>
      <p:sp>
        <p:nvSpPr>
          <p:cNvPr id="7" name="Shape 4"/>
          <p:cNvSpPr/>
          <p:nvPr/>
        </p:nvSpPr>
        <p:spPr>
          <a:xfrm>
            <a:off x="2029968" y="4480560"/>
            <a:ext cx="2743200" cy="502920"/>
          </a:xfrm>
          <a:prstGeom prst="roundRect">
            <a:avLst>
              <a:gd name="adj" fmla="val 14545"/>
            </a:avLst>
          </a:prstGeom>
          <a:solidFill>
            <a:srgbClr val="081B33"/>
          </a:solidFill>
          <a:ln w="12700">
            <a:solidFill>
              <a:srgbClr val="13877F"/>
            </a:solidFill>
            <a:prstDash val="solid"/>
          </a:ln>
        </p:spPr>
      </p:sp>
      <p:sp>
        <p:nvSpPr>
          <p:cNvPr id="8" name="Text 5"/>
          <p:cNvSpPr/>
          <p:nvPr/>
        </p:nvSpPr>
        <p:spPr>
          <a:xfrm>
            <a:off x="2029968" y="4480560"/>
            <a:ext cx="2743200" cy="502920"/>
          </a:xfrm>
          <a:prstGeom prst="rect">
            <a:avLst/>
          </a:prstGeom>
          <a:noFill/>
          <a:ln/>
        </p:spPr>
        <p:txBody>
          <a:bodyPr wrap="square" lIns="0" tIns="0" rIns="0" bIns="0" rtlCol="0" anchor="ctr"/>
          <a:lstStyle/>
          <a:p>
            <a:pPr algn="ctr" indent="0" marL="0">
              <a:buNone/>
            </a:pPr>
            <a:r>
              <a:rPr lang="en-US" sz="1050" b="1" dirty="0">
                <a:solidFill>
                  <a:srgbClr val="13877F"/>
                </a:solidFill>
                <a:latin typeface="Calibri" pitchFamily="34" charset="0"/>
                <a:ea typeface="Calibri" pitchFamily="34" charset="-122"/>
                <a:cs typeface="Calibri" pitchFamily="34" charset="-120"/>
              </a:rPr>
              <a:t>PRESENTED BY  TEAM MEMBER 2</a:t>
            </a:r>
            <a:endParaRPr lang="en-US" sz="10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C708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Built on a Modern, Production-Grade Stack</a:t>
            </a:r>
            <a:endParaRPr lang="en-US" sz="3000" dirty="0"/>
          </a:p>
        </p:txBody>
      </p:sp>
      <p:sp>
        <p:nvSpPr>
          <p:cNvPr id="4" name="Shape 2"/>
          <p:cNvSpPr/>
          <p:nvPr/>
        </p:nvSpPr>
        <p:spPr>
          <a:xfrm>
            <a:off x="731520" y="169164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5" name="Shape 3"/>
          <p:cNvSpPr/>
          <p:nvPr/>
        </p:nvSpPr>
        <p:spPr>
          <a:xfrm>
            <a:off x="987552" y="1929384"/>
            <a:ext cx="512064" cy="512064"/>
          </a:xfrm>
          <a:prstGeom prst="ellipse">
            <a:avLst/>
          </a:prstGeom>
          <a:solidFill>
            <a:srgbClr val="E4F3F1"/>
          </a:solidFill>
          <a:ln/>
        </p:spPr>
      </p:sp>
      <p:pic>
        <p:nvPicPr>
          <p:cNvPr id="6" name="Image 0" descr="preencoded.png">    </p:cNvPr>
          <p:cNvPicPr>
            <a:picLocks noChangeAspect="1"/>
          </p:cNvPicPr>
          <p:nvPr/>
        </p:nvPicPr>
        <p:blipFill>
          <a:blip r:embed="rId1"/>
          <a:stretch>
            <a:fillRect/>
          </a:stretch>
        </p:blipFill>
        <p:spPr>
          <a:xfrm>
            <a:off x="1120689" y="2062521"/>
            <a:ext cx="245791" cy="245791"/>
          </a:xfrm>
          <a:prstGeom prst="rect">
            <a:avLst/>
          </a:prstGeom>
        </p:spPr>
      </p:pic>
      <p:sp>
        <p:nvSpPr>
          <p:cNvPr id="7" name="Text 4"/>
          <p:cNvSpPr/>
          <p:nvPr/>
        </p:nvSpPr>
        <p:spPr>
          <a:xfrm>
            <a:off x="987552" y="256032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React 19 + Vite</a:t>
            </a:r>
            <a:endParaRPr lang="en-US" sz="1350" dirty="0"/>
          </a:p>
        </p:txBody>
      </p:sp>
      <p:sp>
        <p:nvSpPr>
          <p:cNvPr id="8" name="Text 5"/>
          <p:cNvSpPr/>
          <p:nvPr/>
        </p:nvSpPr>
        <p:spPr>
          <a:xfrm>
            <a:off x="987552" y="289864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Frontend, with Zustand for state and Tailwind CSS v4 for styling.</a:t>
            </a:r>
            <a:endParaRPr lang="en-US" sz="1100" dirty="0"/>
          </a:p>
        </p:txBody>
      </p:sp>
      <p:sp>
        <p:nvSpPr>
          <p:cNvPr id="9" name="Shape 6"/>
          <p:cNvSpPr/>
          <p:nvPr/>
        </p:nvSpPr>
        <p:spPr>
          <a:xfrm>
            <a:off x="4399178" y="169164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0" name="Shape 7"/>
          <p:cNvSpPr/>
          <p:nvPr/>
        </p:nvSpPr>
        <p:spPr>
          <a:xfrm>
            <a:off x="4655210" y="1929384"/>
            <a:ext cx="512064" cy="512064"/>
          </a:xfrm>
          <a:prstGeom prst="ellipse">
            <a:avLst/>
          </a:prstGeom>
          <a:solidFill>
            <a:srgbClr val="E4F3F1"/>
          </a:solidFill>
          <a:ln/>
        </p:spPr>
      </p:sp>
      <p:pic>
        <p:nvPicPr>
          <p:cNvPr id="11" name="Image 1" descr="preencoded.png">    </p:cNvPr>
          <p:cNvPicPr>
            <a:picLocks noChangeAspect="1"/>
          </p:cNvPicPr>
          <p:nvPr/>
        </p:nvPicPr>
        <p:blipFill>
          <a:blip r:embed="rId2"/>
          <a:stretch>
            <a:fillRect/>
          </a:stretch>
        </p:blipFill>
        <p:spPr>
          <a:xfrm>
            <a:off x="4788347" y="2062521"/>
            <a:ext cx="245791" cy="245791"/>
          </a:xfrm>
          <a:prstGeom prst="rect">
            <a:avLst/>
          </a:prstGeom>
        </p:spPr>
      </p:pic>
      <p:sp>
        <p:nvSpPr>
          <p:cNvPr id="12" name="Text 8"/>
          <p:cNvSpPr/>
          <p:nvPr/>
        </p:nvSpPr>
        <p:spPr>
          <a:xfrm>
            <a:off x="4655210" y="256032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Node.js + Express</a:t>
            </a:r>
            <a:endParaRPr lang="en-US" sz="1350" dirty="0"/>
          </a:p>
        </p:txBody>
      </p:sp>
      <p:sp>
        <p:nvSpPr>
          <p:cNvPr id="13" name="Text 9"/>
          <p:cNvSpPr/>
          <p:nvPr/>
        </p:nvSpPr>
        <p:spPr>
          <a:xfrm>
            <a:off x="4655210" y="289864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REST API backend, modular by clinical domain (19 route modules).</a:t>
            </a:r>
            <a:endParaRPr lang="en-US" sz="1100" dirty="0"/>
          </a:p>
        </p:txBody>
      </p:sp>
      <p:sp>
        <p:nvSpPr>
          <p:cNvPr id="14" name="Shape 10"/>
          <p:cNvSpPr/>
          <p:nvPr/>
        </p:nvSpPr>
        <p:spPr>
          <a:xfrm>
            <a:off x="8066837" y="169164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5" name="Shape 11"/>
          <p:cNvSpPr/>
          <p:nvPr/>
        </p:nvSpPr>
        <p:spPr>
          <a:xfrm>
            <a:off x="8322869" y="1929384"/>
            <a:ext cx="512064" cy="512064"/>
          </a:xfrm>
          <a:prstGeom prst="ellipse">
            <a:avLst/>
          </a:prstGeom>
          <a:solidFill>
            <a:srgbClr val="E4F3F1"/>
          </a:solidFill>
          <a:ln/>
        </p:spPr>
      </p:sp>
      <p:pic>
        <p:nvPicPr>
          <p:cNvPr id="16" name="Image 2" descr="preencoded.png">    </p:cNvPr>
          <p:cNvPicPr>
            <a:picLocks noChangeAspect="1"/>
          </p:cNvPicPr>
          <p:nvPr/>
        </p:nvPicPr>
        <p:blipFill>
          <a:blip r:embed="rId3"/>
          <a:stretch>
            <a:fillRect/>
          </a:stretch>
        </p:blipFill>
        <p:spPr>
          <a:xfrm>
            <a:off x="8456005" y="2062521"/>
            <a:ext cx="245791" cy="245791"/>
          </a:xfrm>
          <a:prstGeom prst="rect">
            <a:avLst/>
          </a:prstGeom>
        </p:spPr>
      </p:pic>
      <p:sp>
        <p:nvSpPr>
          <p:cNvPr id="17" name="Text 12"/>
          <p:cNvSpPr/>
          <p:nvPr/>
        </p:nvSpPr>
        <p:spPr>
          <a:xfrm>
            <a:off x="8322869" y="256032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PostgreSQL + pgvector</a:t>
            </a:r>
            <a:endParaRPr lang="en-US" sz="1350" dirty="0"/>
          </a:p>
        </p:txBody>
      </p:sp>
      <p:sp>
        <p:nvSpPr>
          <p:cNvPr id="18" name="Text 13"/>
          <p:cNvSpPr/>
          <p:nvPr/>
        </p:nvSpPr>
        <p:spPr>
          <a:xfrm>
            <a:off x="8322869" y="289864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Relational data plus vector similarity search for the AI assistant, via Prisma ORM.</a:t>
            </a:r>
            <a:endParaRPr lang="en-US" sz="1100" dirty="0"/>
          </a:p>
        </p:txBody>
      </p:sp>
      <p:sp>
        <p:nvSpPr>
          <p:cNvPr id="19" name="Shape 14"/>
          <p:cNvSpPr/>
          <p:nvPr/>
        </p:nvSpPr>
        <p:spPr>
          <a:xfrm>
            <a:off x="731520" y="411480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0" name="Shape 15"/>
          <p:cNvSpPr/>
          <p:nvPr/>
        </p:nvSpPr>
        <p:spPr>
          <a:xfrm>
            <a:off x="987552" y="4352544"/>
            <a:ext cx="512064" cy="512064"/>
          </a:xfrm>
          <a:prstGeom prst="ellipse">
            <a:avLst/>
          </a:prstGeom>
          <a:solidFill>
            <a:srgbClr val="E4F3F1"/>
          </a:solidFill>
          <a:ln/>
        </p:spPr>
      </p:sp>
      <p:pic>
        <p:nvPicPr>
          <p:cNvPr id="21" name="Image 3" descr="preencoded.png">    </p:cNvPr>
          <p:cNvPicPr>
            <a:picLocks noChangeAspect="1"/>
          </p:cNvPicPr>
          <p:nvPr/>
        </p:nvPicPr>
        <p:blipFill>
          <a:blip r:embed="rId4"/>
          <a:stretch>
            <a:fillRect/>
          </a:stretch>
        </p:blipFill>
        <p:spPr>
          <a:xfrm>
            <a:off x="1120689" y="4485681"/>
            <a:ext cx="245791" cy="245791"/>
          </a:xfrm>
          <a:prstGeom prst="rect">
            <a:avLst/>
          </a:prstGeom>
        </p:spPr>
      </p:pic>
      <p:sp>
        <p:nvSpPr>
          <p:cNvPr id="22" name="Text 16"/>
          <p:cNvSpPr/>
          <p:nvPr/>
        </p:nvSpPr>
        <p:spPr>
          <a:xfrm>
            <a:off x="987552" y="498348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AWS Bedrock (Llama 3.3 70B)</a:t>
            </a:r>
            <a:endParaRPr lang="en-US" sz="1350" dirty="0"/>
          </a:p>
        </p:txBody>
      </p:sp>
      <p:sp>
        <p:nvSpPr>
          <p:cNvPr id="23" name="Text 17"/>
          <p:cNvSpPr/>
          <p:nvPr/>
        </p:nvSpPr>
        <p:spPr>
          <a:xfrm>
            <a:off x="987552" y="532180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AI orchestration for summaries and retrieval-augmented generation.</a:t>
            </a:r>
            <a:endParaRPr lang="en-US" sz="1100" dirty="0"/>
          </a:p>
        </p:txBody>
      </p:sp>
      <p:sp>
        <p:nvSpPr>
          <p:cNvPr id="24" name="Shape 18"/>
          <p:cNvSpPr/>
          <p:nvPr/>
        </p:nvSpPr>
        <p:spPr>
          <a:xfrm>
            <a:off x="4399178" y="411480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5" name="Shape 19"/>
          <p:cNvSpPr/>
          <p:nvPr/>
        </p:nvSpPr>
        <p:spPr>
          <a:xfrm>
            <a:off x="4655210" y="4352544"/>
            <a:ext cx="512064" cy="512064"/>
          </a:xfrm>
          <a:prstGeom prst="ellipse">
            <a:avLst/>
          </a:prstGeom>
          <a:solidFill>
            <a:srgbClr val="E4F3F1"/>
          </a:solidFill>
          <a:ln/>
        </p:spPr>
      </p:sp>
      <p:pic>
        <p:nvPicPr>
          <p:cNvPr id="26" name="Image 4" descr="preencoded.png">    </p:cNvPr>
          <p:cNvPicPr>
            <a:picLocks noChangeAspect="1"/>
          </p:cNvPicPr>
          <p:nvPr/>
        </p:nvPicPr>
        <p:blipFill>
          <a:blip r:embed="rId5"/>
          <a:stretch>
            <a:fillRect/>
          </a:stretch>
        </p:blipFill>
        <p:spPr>
          <a:xfrm>
            <a:off x="4788347" y="4485681"/>
            <a:ext cx="245791" cy="245791"/>
          </a:xfrm>
          <a:prstGeom prst="rect">
            <a:avLst/>
          </a:prstGeom>
        </p:spPr>
      </p:pic>
      <p:sp>
        <p:nvSpPr>
          <p:cNvPr id="27" name="Text 20"/>
          <p:cNvSpPr/>
          <p:nvPr/>
        </p:nvSpPr>
        <p:spPr>
          <a:xfrm>
            <a:off x="4655210" y="498348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JWT in HttpOnly cookies</a:t>
            </a:r>
            <a:endParaRPr lang="en-US" sz="1350" dirty="0"/>
          </a:p>
        </p:txBody>
      </p:sp>
      <p:sp>
        <p:nvSpPr>
          <p:cNvPr id="28" name="Text 21"/>
          <p:cNvSpPr/>
          <p:nvPr/>
        </p:nvSpPr>
        <p:spPr>
          <a:xfrm>
            <a:off x="4655210" y="532180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Session auth — never in localStorage, never exposed to client-side JavaScript.</a:t>
            </a:r>
            <a:endParaRPr lang="en-US" sz="1100" dirty="0"/>
          </a:p>
        </p:txBody>
      </p:sp>
      <p:sp>
        <p:nvSpPr>
          <p:cNvPr id="29" name="Shape 22"/>
          <p:cNvSpPr/>
          <p:nvPr/>
        </p:nvSpPr>
        <p:spPr>
          <a:xfrm>
            <a:off x="8066837" y="411480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30" name="Shape 23"/>
          <p:cNvSpPr/>
          <p:nvPr/>
        </p:nvSpPr>
        <p:spPr>
          <a:xfrm>
            <a:off x="8322869" y="4352544"/>
            <a:ext cx="512064" cy="512064"/>
          </a:xfrm>
          <a:prstGeom prst="ellipse">
            <a:avLst/>
          </a:prstGeom>
          <a:solidFill>
            <a:srgbClr val="E4F3F1"/>
          </a:solidFill>
          <a:ln/>
        </p:spPr>
      </p:sp>
      <p:pic>
        <p:nvPicPr>
          <p:cNvPr id="31" name="Image 5" descr="preencoded.png">    </p:cNvPr>
          <p:cNvPicPr>
            <a:picLocks noChangeAspect="1"/>
          </p:cNvPicPr>
          <p:nvPr/>
        </p:nvPicPr>
        <p:blipFill>
          <a:blip r:embed="rId6"/>
          <a:stretch>
            <a:fillRect/>
          </a:stretch>
        </p:blipFill>
        <p:spPr>
          <a:xfrm>
            <a:off x="8456005" y="4485681"/>
            <a:ext cx="245791" cy="245791"/>
          </a:xfrm>
          <a:prstGeom prst="rect">
            <a:avLst/>
          </a:prstGeom>
        </p:spPr>
      </p:pic>
      <p:sp>
        <p:nvSpPr>
          <p:cNvPr id="32" name="Text 24"/>
          <p:cNvSpPr/>
          <p:nvPr/>
        </p:nvSpPr>
        <p:spPr>
          <a:xfrm>
            <a:off x="8322869" y="498348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Docker</a:t>
            </a:r>
            <a:endParaRPr lang="en-US" sz="1350" dirty="0"/>
          </a:p>
        </p:txBody>
      </p:sp>
      <p:sp>
        <p:nvSpPr>
          <p:cNvPr id="33" name="Text 25"/>
          <p:cNvSpPr/>
          <p:nvPr/>
        </p:nvSpPr>
        <p:spPr>
          <a:xfrm>
            <a:off x="8322869" y="532180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Containerized backend for reproducible, portable deployment.</a:t>
            </a:r>
            <a:endParaRPr lang="en-US" sz="1100" dirty="0"/>
          </a:p>
        </p:txBody>
      </p:sp>
      <p:sp>
        <p:nvSpPr>
          <p:cNvPr id="34" name="Text 2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Three Layers, Clean Boundaries</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Every request flows through the same two guarantees before it touches a handler.</a:t>
            </a:r>
            <a:endParaRPr lang="en-US" sz="1350" dirty="0"/>
          </a:p>
        </p:txBody>
      </p:sp>
      <p:sp>
        <p:nvSpPr>
          <p:cNvPr id="5" name="Shape 3"/>
          <p:cNvSpPr/>
          <p:nvPr/>
        </p:nvSpPr>
        <p:spPr>
          <a:xfrm>
            <a:off x="731520" y="2286000"/>
            <a:ext cx="3332378" cy="3291840"/>
          </a:xfrm>
          <a:prstGeom prst="roundRect">
            <a:avLst>
              <a:gd name="adj" fmla="val 2222"/>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6" name="Shape 4"/>
          <p:cNvSpPr/>
          <p:nvPr/>
        </p:nvSpPr>
        <p:spPr>
          <a:xfrm>
            <a:off x="2077669" y="2651760"/>
            <a:ext cx="640080" cy="640080"/>
          </a:xfrm>
          <a:prstGeom prst="ellipse">
            <a:avLst/>
          </a:prstGeom>
          <a:solidFill>
            <a:srgbClr val="E4F3F1"/>
          </a:solidFill>
          <a:ln/>
        </p:spPr>
      </p:sp>
      <p:pic>
        <p:nvPicPr>
          <p:cNvPr id="7" name="Image 0" descr="preencoded.png">    </p:cNvPr>
          <p:cNvPicPr>
            <a:picLocks noChangeAspect="1"/>
          </p:cNvPicPr>
          <p:nvPr/>
        </p:nvPicPr>
        <p:blipFill>
          <a:blip r:embed="rId1"/>
          <a:stretch>
            <a:fillRect/>
          </a:stretch>
        </p:blipFill>
        <p:spPr>
          <a:xfrm>
            <a:off x="2244090" y="2818181"/>
            <a:ext cx="307238" cy="307238"/>
          </a:xfrm>
          <a:prstGeom prst="rect">
            <a:avLst/>
          </a:prstGeom>
        </p:spPr>
      </p:pic>
      <p:sp>
        <p:nvSpPr>
          <p:cNvPr id="8" name="Text 5"/>
          <p:cNvSpPr/>
          <p:nvPr/>
        </p:nvSpPr>
        <p:spPr>
          <a:xfrm>
            <a:off x="914400" y="3520440"/>
            <a:ext cx="2966618" cy="411480"/>
          </a:xfrm>
          <a:prstGeom prst="rect">
            <a:avLst/>
          </a:prstGeom>
          <a:noFill/>
          <a:ln/>
        </p:spPr>
        <p:txBody>
          <a:bodyPr wrap="square" lIns="0" tIns="0" rIns="0" bIns="0" rtlCol="0" anchor="ctr"/>
          <a:lstStyle/>
          <a:p>
            <a:pPr algn="ctr" indent="0" marL="0">
              <a:buNone/>
            </a:pPr>
            <a:r>
              <a:rPr lang="en-US" sz="1500" b="1" dirty="0">
                <a:solidFill>
                  <a:srgbClr val="1A2333"/>
                </a:solidFill>
                <a:latin typeface="Calibri" pitchFamily="34" charset="0"/>
                <a:ea typeface="Calibri" pitchFamily="34" charset="-122"/>
                <a:cs typeface="Calibri" pitchFamily="34" charset="-120"/>
              </a:rPr>
              <a:t>Client</a:t>
            </a:r>
            <a:endParaRPr lang="en-US" sz="1500" dirty="0"/>
          </a:p>
        </p:txBody>
      </p:sp>
      <p:sp>
        <p:nvSpPr>
          <p:cNvPr id="9" name="Text 6"/>
          <p:cNvSpPr/>
          <p:nvPr/>
        </p:nvSpPr>
        <p:spPr>
          <a:xfrm>
            <a:off x="960120" y="3977640"/>
            <a:ext cx="2875178" cy="1463040"/>
          </a:xfrm>
          <a:prstGeom prst="rect">
            <a:avLst/>
          </a:prstGeom>
          <a:noFill/>
          <a:ln/>
        </p:spPr>
        <p:txBody>
          <a:bodyPr wrap="square" lIns="0" tIns="0" rIns="0" bIns="0" rtlCol="0" anchor="t"/>
          <a:lstStyle/>
          <a:p>
            <a:pPr algn="ctr" indent="0" marL="0">
              <a:buNone/>
            </a:pPr>
            <a:r>
              <a:rPr lang="en-US" sz="1100" dirty="0">
                <a:solidFill>
                  <a:srgbClr val="5B6B82"/>
                </a:solidFill>
                <a:latin typeface="Calibri" pitchFamily="34" charset="0"/>
                <a:ea typeface="Calibri" pitchFamily="34" charset="-122"/>
                <a:cs typeface="Calibri" pitchFamily="34" charset="-120"/>
              </a:rPr>
              <a:t>React SPA — role-adaptive dashboard, calls the API over HTTPS with credentials</a:t>
            </a:r>
            <a:endParaRPr lang="en-US" sz="1100" dirty="0"/>
          </a:p>
        </p:txBody>
      </p:sp>
      <p:sp>
        <p:nvSpPr>
          <p:cNvPr id="10" name="Shape 7"/>
          <p:cNvSpPr/>
          <p:nvPr/>
        </p:nvSpPr>
        <p:spPr>
          <a:xfrm>
            <a:off x="4091330" y="3813048"/>
            <a:ext cx="310896" cy="237744"/>
          </a:xfrm>
          <a:prstGeom prst="rightArrow">
            <a:avLst/>
          </a:prstGeom>
          <a:solidFill>
            <a:srgbClr val="C7D3E2"/>
          </a:solidFill>
          <a:ln/>
        </p:spPr>
      </p:sp>
      <p:sp>
        <p:nvSpPr>
          <p:cNvPr id="11" name="Shape 8"/>
          <p:cNvSpPr/>
          <p:nvPr/>
        </p:nvSpPr>
        <p:spPr>
          <a:xfrm>
            <a:off x="4429658" y="2286000"/>
            <a:ext cx="3332378" cy="3291840"/>
          </a:xfrm>
          <a:prstGeom prst="roundRect">
            <a:avLst>
              <a:gd name="adj" fmla="val 2222"/>
            </a:avLst>
          </a:prstGeom>
          <a:solidFill>
            <a:srgbClr val="0B2545"/>
          </a:solidFill>
          <a:ln w="12700">
            <a:solidFill>
              <a:srgbClr val="0B2545"/>
            </a:solidFill>
            <a:prstDash val="solid"/>
          </a:ln>
          <a:effectLst>
            <a:outerShdw sx="100000" sy="100000" kx="0" ky="0" algn="bl" rotWithShape="0" blurRad="76200" dist="25400" dir="5400000">
              <a:srgbClr val="1A2333">
                <a:alpha val="8000"/>
              </a:srgbClr>
            </a:outerShdw>
          </a:effectLst>
        </p:spPr>
      </p:sp>
      <p:sp>
        <p:nvSpPr>
          <p:cNvPr id="12" name="Shape 9"/>
          <p:cNvSpPr/>
          <p:nvPr/>
        </p:nvSpPr>
        <p:spPr>
          <a:xfrm>
            <a:off x="5775808" y="2651760"/>
            <a:ext cx="640080" cy="640080"/>
          </a:xfrm>
          <a:prstGeom prst="ellipse">
            <a:avLst/>
          </a:prstGeom>
          <a:solidFill>
            <a:srgbClr val="173257"/>
          </a:solidFill>
          <a:ln/>
        </p:spPr>
      </p:sp>
      <p:pic>
        <p:nvPicPr>
          <p:cNvPr id="13" name="Image 1" descr="preencoded.png">    </p:cNvPr>
          <p:cNvPicPr>
            <a:picLocks noChangeAspect="1"/>
          </p:cNvPicPr>
          <p:nvPr/>
        </p:nvPicPr>
        <p:blipFill>
          <a:blip r:embed="rId2"/>
          <a:stretch>
            <a:fillRect/>
          </a:stretch>
        </p:blipFill>
        <p:spPr>
          <a:xfrm>
            <a:off x="5942228" y="2818181"/>
            <a:ext cx="307238" cy="307238"/>
          </a:xfrm>
          <a:prstGeom prst="rect">
            <a:avLst/>
          </a:prstGeom>
        </p:spPr>
      </p:pic>
      <p:sp>
        <p:nvSpPr>
          <p:cNvPr id="14" name="Text 10"/>
          <p:cNvSpPr/>
          <p:nvPr/>
        </p:nvSpPr>
        <p:spPr>
          <a:xfrm>
            <a:off x="4612538" y="3520440"/>
            <a:ext cx="2966618"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API Server</a:t>
            </a:r>
            <a:endParaRPr lang="en-US" sz="1500" dirty="0"/>
          </a:p>
        </p:txBody>
      </p:sp>
      <p:sp>
        <p:nvSpPr>
          <p:cNvPr id="15" name="Text 11"/>
          <p:cNvSpPr/>
          <p:nvPr/>
        </p:nvSpPr>
        <p:spPr>
          <a:xfrm>
            <a:off x="4658258" y="3977640"/>
            <a:ext cx="2875178" cy="1463040"/>
          </a:xfrm>
          <a:prstGeom prst="rect">
            <a:avLst/>
          </a:prstGeom>
          <a:noFill/>
          <a:ln/>
        </p:spPr>
        <p:txBody>
          <a:bodyPr wrap="square" lIns="0" tIns="0" rIns="0" bIns="0"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Express — verifyToken → restrictTo(role) → audit-log middleware → route handler</a:t>
            </a:r>
            <a:endParaRPr lang="en-US" sz="1100" dirty="0"/>
          </a:p>
        </p:txBody>
      </p:sp>
      <p:sp>
        <p:nvSpPr>
          <p:cNvPr id="16" name="Shape 12"/>
          <p:cNvSpPr/>
          <p:nvPr/>
        </p:nvSpPr>
        <p:spPr>
          <a:xfrm>
            <a:off x="7789469" y="3813048"/>
            <a:ext cx="310896" cy="237744"/>
          </a:xfrm>
          <a:prstGeom prst="rightArrow">
            <a:avLst/>
          </a:prstGeom>
          <a:solidFill>
            <a:srgbClr val="C7D3E2"/>
          </a:solidFill>
          <a:ln/>
        </p:spPr>
      </p:sp>
      <p:sp>
        <p:nvSpPr>
          <p:cNvPr id="17" name="Shape 13"/>
          <p:cNvSpPr/>
          <p:nvPr/>
        </p:nvSpPr>
        <p:spPr>
          <a:xfrm>
            <a:off x="8127797" y="2286000"/>
            <a:ext cx="3332378" cy="3291840"/>
          </a:xfrm>
          <a:prstGeom prst="roundRect">
            <a:avLst>
              <a:gd name="adj" fmla="val 2222"/>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18" name="Shape 14"/>
          <p:cNvSpPr/>
          <p:nvPr/>
        </p:nvSpPr>
        <p:spPr>
          <a:xfrm>
            <a:off x="9473946" y="2651760"/>
            <a:ext cx="640080" cy="640080"/>
          </a:xfrm>
          <a:prstGeom prst="ellipse">
            <a:avLst/>
          </a:prstGeom>
          <a:solidFill>
            <a:srgbClr val="E4F3F1"/>
          </a:solidFill>
          <a:ln/>
        </p:spPr>
      </p:sp>
      <p:pic>
        <p:nvPicPr>
          <p:cNvPr id="19" name="Image 2" descr="preencoded.png">    </p:cNvPr>
          <p:cNvPicPr>
            <a:picLocks noChangeAspect="1"/>
          </p:cNvPicPr>
          <p:nvPr/>
        </p:nvPicPr>
        <p:blipFill>
          <a:blip r:embed="rId3"/>
          <a:stretch>
            <a:fillRect/>
          </a:stretch>
        </p:blipFill>
        <p:spPr>
          <a:xfrm>
            <a:off x="9640367" y="2818181"/>
            <a:ext cx="307238" cy="307238"/>
          </a:xfrm>
          <a:prstGeom prst="rect">
            <a:avLst/>
          </a:prstGeom>
        </p:spPr>
      </p:pic>
      <p:sp>
        <p:nvSpPr>
          <p:cNvPr id="20" name="Text 15"/>
          <p:cNvSpPr/>
          <p:nvPr/>
        </p:nvSpPr>
        <p:spPr>
          <a:xfrm>
            <a:off x="8310677" y="3520440"/>
            <a:ext cx="2966618" cy="411480"/>
          </a:xfrm>
          <a:prstGeom prst="rect">
            <a:avLst/>
          </a:prstGeom>
          <a:noFill/>
          <a:ln/>
        </p:spPr>
        <p:txBody>
          <a:bodyPr wrap="square" lIns="0" tIns="0" rIns="0" bIns="0" rtlCol="0" anchor="ctr"/>
          <a:lstStyle/>
          <a:p>
            <a:pPr algn="ctr" indent="0" marL="0">
              <a:buNone/>
            </a:pPr>
            <a:r>
              <a:rPr lang="en-US" sz="1500" b="1" dirty="0">
                <a:solidFill>
                  <a:srgbClr val="1A2333"/>
                </a:solidFill>
                <a:latin typeface="Calibri" pitchFamily="34" charset="0"/>
                <a:ea typeface="Calibri" pitchFamily="34" charset="-122"/>
                <a:cs typeface="Calibri" pitchFamily="34" charset="-120"/>
              </a:rPr>
              <a:t>Data &amp; AI</a:t>
            </a:r>
            <a:endParaRPr lang="en-US" sz="1500" dirty="0"/>
          </a:p>
        </p:txBody>
      </p:sp>
      <p:sp>
        <p:nvSpPr>
          <p:cNvPr id="21" name="Text 16"/>
          <p:cNvSpPr/>
          <p:nvPr/>
        </p:nvSpPr>
        <p:spPr>
          <a:xfrm>
            <a:off x="8356397" y="3977640"/>
            <a:ext cx="2875178" cy="1463040"/>
          </a:xfrm>
          <a:prstGeom prst="rect">
            <a:avLst/>
          </a:prstGeom>
          <a:noFill/>
          <a:ln/>
        </p:spPr>
        <p:txBody>
          <a:bodyPr wrap="square" lIns="0" tIns="0" rIns="0" bIns="0" rtlCol="0" anchor="t"/>
          <a:lstStyle/>
          <a:p>
            <a:pPr algn="ctr" indent="0" marL="0">
              <a:buNone/>
            </a:pPr>
            <a:r>
              <a:rPr lang="en-US" sz="1100" dirty="0">
                <a:solidFill>
                  <a:srgbClr val="5B6B82"/>
                </a:solidFill>
                <a:latin typeface="Calibri" pitchFamily="34" charset="0"/>
                <a:ea typeface="Calibri" pitchFamily="34" charset="-122"/>
                <a:cs typeface="Calibri" pitchFamily="34" charset="-120"/>
              </a:rPr>
              <a:t>PostgreSQL (Prisma) for structured data, pgvector for embeddings, Bedrock for LLM calls</a:t>
            </a:r>
            <a:endParaRPr lang="en-US" sz="1100" dirty="0"/>
          </a:p>
        </p:txBody>
      </p:sp>
      <p:sp>
        <p:nvSpPr>
          <p:cNvPr id="22"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DATA MODEL</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A Schema Built for a Real Clinical Record</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34 tables, one Prisma schema, admission-scoped rather than patient-scoped — so the same patient's second ICU stay never mixes with their first.</a:t>
            </a:r>
            <a:endParaRPr lang="en-US" sz="1350" dirty="0"/>
          </a:p>
        </p:txBody>
      </p:sp>
      <p:sp>
        <p:nvSpPr>
          <p:cNvPr id="5" name="Shape 3"/>
          <p:cNvSpPr/>
          <p:nvPr/>
        </p:nvSpPr>
        <p:spPr>
          <a:xfrm>
            <a:off x="731520" y="2743200"/>
            <a:ext cx="3393338" cy="2834640"/>
          </a:xfrm>
          <a:prstGeom prst="roundRect">
            <a:avLst>
              <a:gd name="adj" fmla="val 2581"/>
            </a:avLst>
          </a:prstGeom>
          <a:solidFill>
            <a:srgbClr val="0B2545"/>
          </a:solidFill>
          <a:ln/>
        </p:spPr>
      </p:sp>
      <p:sp>
        <p:nvSpPr>
          <p:cNvPr id="6" name="Text 4"/>
          <p:cNvSpPr/>
          <p:nvPr/>
        </p:nvSpPr>
        <p:spPr>
          <a:xfrm>
            <a:off x="868680" y="3246120"/>
            <a:ext cx="3119018" cy="1188720"/>
          </a:xfrm>
          <a:prstGeom prst="rect">
            <a:avLst/>
          </a:prstGeom>
          <a:noFill/>
          <a:ln/>
        </p:spPr>
        <p:txBody>
          <a:bodyPr wrap="square" lIns="0" tIns="0" rIns="0" bIns="0" rtlCol="0" anchor="ctr"/>
          <a:lstStyle/>
          <a:p>
            <a:pPr algn="ctr" indent="0" marL="0">
              <a:buNone/>
            </a:pPr>
            <a:r>
              <a:rPr lang="en-US" sz="4000" b="1" dirty="0">
                <a:solidFill>
                  <a:srgbClr val="5FD1C6"/>
                </a:solidFill>
                <a:latin typeface="Cambria" pitchFamily="34" charset="0"/>
                <a:ea typeface="Cambria" pitchFamily="34" charset="-122"/>
                <a:cs typeface="Cambria" pitchFamily="34" charset="-120"/>
              </a:rPr>
              <a:t>34</a:t>
            </a:r>
            <a:endParaRPr lang="en-US" sz="4000" dirty="0"/>
          </a:p>
        </p:txBody>
      </p:sp>
      <p:sp>
        <p:nvSpPr>
          <p:cNvPr id="7" name="Text 5"/>
          <p:cNvSpPr/>
          <p:nvPr/>
        </p:nvSpPr>
        <p:spPr>
          <a:xfrm>
            <a:off x="914400" y="4526280"/>
            <a:ext cx="3027578" cy="8229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Database tables across 19 clinical &amp; admin domains</a:t>
            </a:r>
            <a:endParaRPr lang="en-US" sz="1200" dirty="0"/>
          </a:p>
        </p:txBody>
      </p:sp>
      <p:sp>
        <p:nvSpPr>
          <p:cNvPr id="8" name="Shape 6"/>
          <p:cNvSpPr/>
          <p:nvPr/>
        </p:nvSpPr>
        <p:spPr>
          <a:xfrm>
            <a:off x="4399178" y="2743200"/>
            <a:ext cx="3393338" cy="2834640"/>
          </a:xfrm>
          <a:prstGeom prst="roundRect">
            <a:avLst>
              <a:gd name="adj" fmla="val 2581"/>
            </a:avLst>
          </a:prstGeom>
          <a:solidFill>
            <a:srgbClr val="0B2545"/>
          </a:solidFill>
          <a:ln/>
        </p:spPr>
      </p:sp>
      <p:sp>
        <p:nvSpPr>
          <p:cNvPr id="9" name="Text 7"/>
          <p:cNvSpPr/>
          <p:nvPr/>
        </p:nvSpPr>
        <p:spPr>
          <a:xfrm>
            <a:off x="4536338" y="3246120"/>
            <a:ext cx="3119018" cy="1188720"/>
          </a:xfrm>
          <a:prstGeom prst="rect">
            <a:avLst/>
          </a:prstGeom>
          <a:noFill/>
          <a:ln/>
        </p:spPr>
        <p:txBody>
          <a:bodyPr wrap="square" lIns="0" tIns="0" rIns="0" bIns="0" rtlCol="0" anchor="ctr"/>
          <a:lstStyle/>
          <a:p>
            <a:pPr algn="ctr" indent="0" marL="0">
              <a:buNone/>
            </a:pPr>
            <a:r>
              <a:rPr lang="en-US" sz="4000" b="1" dirty="0">
                <a:solidFill>
                  <a:srgbClr val="5FD1C6"/>
                </a:solidFill>
                <a:latin typeface="Cambria" pitchFamily="34" charset="0"/>
                <a:ea typeface="Cambria" pitchFamily="34" charset="-122"/>
                <a:cs typeface="Cambria" pitchFamily="34" charset="-120"/>
              </a:rPr>
              <a:t>19</a:t>
            </a:r>
            <a:endParaRPr lang="en-US" sz="4000" dirty="0"/>
          </a:p>
        </p:txBody>
      </p:sp>
      <p:sp>
        <p:nvSpPr>
          <p:cNvPr id="10" name="Text 8"/>
          <p:cNvSpPr/>
          <p:nvPr/>
        </p:nvSpPr>
        <p:spPr>
          <a:xfrm>
            <a:off x="4582058" y="4526280"/>
            <a:ext cx="3027578" cy="8229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Prisma schema files, one per domain</a:t>
            </a:r>
            <a:endParaRPr lang="en-US" sz="1200" dirty="0"/>
          </a:p>
        </p:txBody>
      </p:sp>
      <p:sp>
        <p:nvSpPr>
          <p:cNvPr id="11" name="Shape 9"/>
          <p:cNvSpPr/>
          <p:nvPr/>
        </p:nvSpPr>
        <p:spPr>
          <a:xfrm>
            <a:off x="8066837" y="2743200"/>
            <a:ext cx="3393338" cy="2834640"/>
          </a:xfrm>
          <a:prstGeom prst="roundRect">
            <a:avLst>
              <a:gd name="adj" fmla="val 2581"/>
            </a:avLst>
          </a:prstGeom>
          <a:solidFill>
            <a:srgbClr val="0B2545"/>
          </a:solidFill>
          <a:ln/>
        </p:spPr>
      </p:sp>
      <p:sp>
        <p:nvSpPr>
          <p:cNvPr id="12" name="Text 10"/>
          <p:cNvSpPr/>
          <p:nvPr/>
        </p:nvSpPr>
        <p:spPr>
          <a:xfrm>
            <a:off x="8203997" y="3246120"/>
            <a:ext cx="3119018" cy="1188720"/>
          </a:xfrm>
          <a:prstGeom prst="rect">
            <a:avLst/>
          </a:prstGeom>
          <a:noFill/>
          <a:ln/>
        </p:spPr>
        <p:txBody>
          <a:bodyPr wrap="square" lIns="0" tIns="0" rIns="0" bIns="0" rtlCol="0" anchor="ctr"/>
          <a:lstStyle/>
          <a:p>
            <a:pPr algn="ctr" indent="0" marL="0">
              <a:buNone/>
            </a:pPr>
            <a:r>
              <a:rPr lang="en-US" sz="4000" b="1" dirty="0">
                <a:solidFill>
                  <a:srgbClr val="5FD1C6"/>
                </a:solidFill>
                <a:latin typeface="Cambria" pitchFamily="34" charset="0"/>
                <a:ea typeface="Cambria" pitchFamily="34" charset="-122"/>
                <a:cs typeface="Cambria" pitchFamily="34" charset="-120"/>
              </a:rPr>
              <a:t>100%</a:t>
            </a:r>
            <a:endParaRPr lang="en-US" sz="4000" dirty="0"/>
          </a:p>
        </p:txBody>
      </p:sp>
      <p:sp>
        <p:nvSpPr>
          <p:cNvPr id="13" name="Text 11"/>
          <p:cNvSpPr/>
          <p:nvPr/>
        </p:nvSpPr>
        <p:spPr>
          <a:xfrm>
            <a:off x="8249717" y="4526280"/>
            <a:ext cx="3027578" cy="8229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Soft-delete — no clinical record is ever hard-deleted</a:t>
            </a:r>
            <a:endParaRPr lang="en-US" sz="1200" dirty="0"/>
          </a:p>
        </p:txBody>
      </p:sp>
      <p:sp>
        <p:nvSpPr>
          <p:cNvPr id="14" name="Text 1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SECURITY</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Security Enforced at the API, Not the UI</a:t>
            </a:r>
            <a:endParaRPr lang="en-US" sz="3000" dirty="0"/>
          </a:p>
        </p:txBody>
      </p:sp>
      <p:sp>
        <p:nvSpPr>
          <p:cNvPr id="4" name="Shape 2"/>
          <p:cNvSpPr/>
          <p:nvPr/>
        </p:nvSpPr>
        <p:spPr>
          <a:xfrm>
            <a:off x="731520" y="1936242"/>
            <a:ext cx="585216" cy="585216"/>
          </a:xfrm>
          <a:prstGeom prst="ellipse">
            <a:avLst/>
          </a:prstGeom>
          <a:solidFill>
            <a:srgbClr val="E4F3F1"/>
          </a:solidFill>
          <a:ln/>
        </p:spPr>
      </p:sp>
      <p:pic>
        <p:nvPicPr>
          <p:cNvPr id="5" name="Image 0" descr="preencoded.png">    </p:cNvPr>
          <p:cNvPicPr>
            <a:picLocks noChangeAspect="1"/>
          </p:cNvPicPr>
          <p:nvPr/>
        </p:nvPicPr>
        <p:blipFill>
          <a:blip r:embed="rId1"/>
          <a:stretch>
            <a:fillRect/>
          </a:stretch>
        </p:blipFill>
        <p:spPr>
          <a:xfrm>
            <a:off x="883676" y="2088398"/>
            <a:ext cx="280904" cy="280904"/>
          </a:xfrm>
          <a:prstGeom prst="rect">
            <a:avLst/>
          </a:prstGeom>
        </p:spPr>
      </p:pic>
      <p:sp>
        <p:nvSpPr>
          <p:cNvPr id="6" name="Text 3"/>
          <p:cNvSpPr/>
          <p:nvPr/>
        </p:nvSpPr>
        <p:spPr>
          <a:xfrm>
            <a:off x="1600200" y="170992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HttpOnly, Secure, SameSite cookies</a:t>
            </a:r>
            <a:endParaRPr lang="en-US" sz="1500" dirty="0"/>
          </a:p>
        </p:txBody>
      </p:sp>
      <p:sp>
        <p:nvSpPr>
          <p:cNvPr id="7" name="Text 4"/>
          <p:cNvSpPr/>
          <p:nvPr/>
        </p:nvSpPr>
        <p:spPr>
          <a:xfrm>
            <a:off x="1600200" y="205740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JWTs are never readable by client-side JavaScript and never stored in localStorage.</a:t>
            </a:r>
            <a:endParaRPr lang="en-US" sz="1250" dirty="0"/>
          </a:p>
        </p:txBody>
      </p:sp>
      <p:sp>
        <p:nvSpPr>
          <p:cNvPr id="8" name="Shape 5"/>
          <p:cNvSpPr/>
          <p:nvPr/>
        </p:nvSpPr>
        <p:spPr>
          <a:xfrm>
            <a:off x="731520" y="3010662"/>
            <a:ext cx="585216" cy="585216"/>
          </a:xfrm>
          <a:prstGeom prst="ellipse">
            <a:avLst/>
          </a:prstGeom>
          <a:solidFill>
            <a:srgbClr val="E4F3F1"/>
          </a:solidFill>
          <a:ln/>
        </p:spPr>
      </p:sp>
      <p:pic>
        <p:nvPicPr>
          <p:cNvPr id="9" name="Image 1" descr="preencoded.png">    </p:cNvPr>
          <p:cNvPicPr>
            <a:picLocks noChangeAspect="1"/>
          </p:cNvPicPr>
          <p:nvPr/>
        </p:nvPicPr>
        <p:blipFill>
          <a:blip r:embed="rId2"/>
          <a:stretch>
            <a:fillRect/>
          </a:stretch>
        </p:blipFill>
        <p:spPr>
          <a:xfrm>
            <a:off x="883676" y="3162818"/>
            <a:ext cx="280904" cy="280904"/>
          </a:xfrm>
          <a:prstGeom prst="rect">
            <a:avLst/>
          </a:prstGeom>
        </p:spPr>
      </p:pic>
      <p:sp>
        <p:nvSpPr>
          <p:cNvPr id="10" name="Text 6"/>
          <p:cNvSpPr/>
          <p:nvPr/>
        </p:nvSpPr>
        <p:spPr>
          <a:xfrm>
            <a:off x="1600200" y="278434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Role middleware on every route</a:t>
            </a:r>
            <a:endParaRPr lang="en-US" sz="1500" dirty="0"/>
          </a:p>
        </p:txBody>
      </p:sp>
      <p:sp>
        <p:nvSpPr>
          <p:cNvPr id="11" name="Text 7"/>
          <p:cNvSpPr/>
          <p:nvPr/>
        </p:nvSpPr>
        <p:spPr>
          <a:xfrm>
            <a:off x="1600200" y="313182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verifyToken and restrictTo(role) run before any handler — the same guarantee whether the request comes from our UI or a raw API call.</a:t>
            </a:r>
            <a:endParaRPr lang="en-US" sz="1250" dirty="0"/>
          </a:p>
        </p:txBody>
      </p:sp>
      <p:sp>
        <p:nvSpPr>
          <p:cNvPr id="12" name="Shape 8"/>
          <p:cNvSpPr/>
          <p:nvPr/>
        </p:nvSpPr>
        <p:spPr>
          <a:xfrm>
            <a:off x="731520" y="4085082"/>
            <a:ext cx="585216" cy="585216"/>
          </a:xfrm>
          <a:prstGeom prst="ellipse">
            <a:avLst/>
          </a:prstGeom>
          <a:solidFill>
            <a:srgbClr val="E4F3F1"/>
          </a:solidFill>
          <a:ln/>
        </p:spPr>
      </p:sp>
      <p:pic>
        <p:nvPicPr>
          <p:cNvPr id="13" name="Image 2" descr="preencoded.png">    </p:cNvPr>
          <p:cNvPicPr>
            <a:picLocks noChangeAspect="1"/>
          </p:cNvPicPr>
          <p:nvPr/>
        </p:nvPicPr>
        <p:blipFill>
          <a:blip r:embed="rId3"/>
          <a:stretch>
            <a:fillRect/>
          </a:stretch>
        </p:blipFill>
        <p:spPr>
          <a:xfrm>
            <a:off x="883676" y="4237238"/>
            <a:ext cx="280904" cy="280904"/>
          </a:xfrm>
          <a:prstGeom prst="rect">
            <a:avLst/>
          </a:prstGeom>
        </p:spPr>
      </p:pic>
      <p:sp>
        <p:nvSpPr>
          <p:cNvPr id="14" name="Text 9"/>
          <p:cNvSpPr/>
          <p:nvPr/>
        </p:nvSpPr>
        <p:spPr>
          <a:xfrm>
            <a:off x="1600200" y="385876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Login attempt logging &amp; account lockout</a:t>
            </a:r>
            <a:endParaRPr lang="en-US" sz="1500" dirty="0"/>
          </a:p>
        </p:txBody>
      </p:sp>
      <p:sp>
        <p:nvSpPr>
          <p:cNvPr id="15" name="Text 10"/>
          <p:cNvSpPr/>
          <p:nvPr/>
        </p:nvSpPr>
        <p:spPr>
          <a:xfrm>
            <a:off x="1600200" y="420624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Every login attempt is recorded; 5 failures in 15 minutes locks the account and is reviewable by the System Admin.</a:t>
            </a:r>
            <a:endParaRPr lang="en-US" sz="1250" dirty="0"/>
          </a:p>
        </p:txBody>
      </p:sp>
      <p:sp>
        <p:nvSpPr>
          <p:cNvPr id="16" name="Shape 11"/>
          <p:cNvSpPr/>
          <p:nvPr/>
        </p:nvSpPr>
        <p:spPr>
          <a:xfrm>
            <a:off x="731520" y="5159502"/>
            <a:ext cx="585216" cy="585216"/>
          </a:xfrm>
          <a:prstGeom prst="ellipse">
            <a:avLst/>
          </a:prstGeom>
          <a:solidFill>
            <a:srgbClr val="E4F3F1"/>
          </a:solidFill>
          <a:ln/>
        </p:spPr>
      </p:sp>
      <p:pic>
        <p:nvPicPr>
          <p:cNvPr id="17" name="Image 3" descr="preencoded.png">    </p:cNvPr>
          <p:cNvPicPr>
            <a:picLocks noChangeAspect="1"/>
          </p:cNvPicPr>
          <p:nvPr/>
        </p:nvPicPr>
        <p:blipFill>
          <a:blip r:embed="rId4"/>
          <a:stretch>
            <a:fillRect/>
          </a:stretch>
        </p:blipFill>
        <p:spPr>
          <a:xfrm>
            <a:off x="883676" y="5311658"/>
            <a:ext cx="280904" cy="280904"/>
          </a:xfrm>
          <a:prstGeom prst="rect">
            <a:avLst/>
          </a:prstGeom>
        </p:spPr>
      </p:pic>
      <p:sp>
        <p:nvSpPr>
          <p:cNvPr id="18" name="Text 12"/>
          <p:cNvSpPr/>
          <p:nvPr/>
        </p:nvSpPr>
        <p:spPr>
          <a:xfrm>
            <a:off x="1600200" y="493318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Immutable audit log + soft deletion</a:t>
            </a:r>
            <a:endParaRPr lang="en-US" sz="1500" dirty="0"/>
          </a:p>
        </p:txBody>
      </p:sp>
      <p:sp>
        <p:nvSpPr>
          <p:cNvPr id="19" name="Text 13"/>
          <p:cNvSpPr/>
          <p:nvPr/>
        </p:nvSpPr>
        <p:spPr>
          <a:xfrm>
            <a:off x="1600200" y="528066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Every write is logged; nothing is ever truly deleted, only archived — required for clinical and legal traceability.</a:t>
            </a:r>
            <a:endParaRPr lang="en-US" sz="1250" dirty="0"/>
          </a:p>
        </p:txBody>
      </p:sp>
      <p:sp>
        <p:nvSpPr>
          <p:cNvPr id="20" name="Text 14"/>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22960" y="1371600"/>
            <a:ext cx="3657600" cy="1828800"/>
          </a:xfrm>
          <a:prstGeom prst="rect">
            <a:avLst/>
          </a:prstGeom>
          <a:noFill/>
          <a:ln/>
        </p:spPr>
        <p:txBody>
          <a:bodyPr wrap="square" lIns="0" tIns="0" rIns="0" bIns="0" rtlCol="0" anchor="ctr"/>
          <a:lstStyle/>
          <a:p>
            <a:pPr indent="0" marL="0">
              <a:buNone/>
            </a:pPr>
            <a:r>
              <a:rPr lang="en-US" sz="13000" b="1" dirty="0">
                <a:solidFill>
                  <a:srgbClr val="173257"/>
                </a:solidFill>
                <a:latin typeface="Cambria" pitchFamily="34" charset="0"/>
                <a:ea typeface="Cambria" pitchFamily="34" charset="-122"/>
                <a:cs typeface="Cambria" pitchFamily="34" charset="-120"/>
              </a:rPr>
              <a:t>03</a:t>
            </a:r>
            <a:endParaRPr lang="en-US" sz="13000" dirty="0"/>
          </a:p>
        </p:txBody>
      </p:sp>
      <p:sp>
        <p:nvSpPr>
          <p:cNvPr id="3" name="Shape 1"/>
          <p:cNvSpPr/>
          <p:nvPr/>
        </p:nvSpPr>
        <p:spPr>
          <a:xfrm>
            <a:off x="868680" y="3063240"/>
            <a:ext cx="914400" cy="914400"/>
          </a:xfrm>
          <a:prstGeom prst="ellipse">
            <a:avLst/>
          </a:prstGeom>
          <a:solidFill>
            <a:srgbClr val="13877F"/>
          </a:solidFill>
          <a:ln/>
        </p:spPr>
      </p:sp>
      <p:pic>
        <p:nvPicPr>
          <p:cNvPr id="4" name="Image 0" descr="preencoded.png">    </p:cNvPr>
          <p:cNvPicPr>
            <a:picLocks noChangeAspect="1"/>
          </p:cNvPicPr>
          <p:nvPr/>
        </p:nvPicPr>
        <p:blipFill>
          <a:blip r:embed="rId1"/>
          <a:stretch>
            <a:fillRect/>
          </a:stretch>
        </p:blipFill>
        <p:spPr>
          <a:xfrm>
            <a:off x="1106424" y="3300984"/>
            <a:ext cx="438912" cy="438912"/>
          </a:xfrm>
          <a:prstGeom prst="rect">
            <a:avLst/>
          </a:prstGeom>
        </p:spPr>
      </p:pic>
      <p:sp>
        <p:nvSpPr>
          <p:cNvPr id="5" name="Text 2"/>
          <p:cNvSpPr/>
          <p:nvPr/>
        </p:nvSpPr>
        <p:spPr>
          <a:xfrm>
            <a:off x="2011680" y="3017520"/>
            <a:ext cx="89611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Core Clinical Workflow</a:t>
            </a:r>
            <a:endParaRPr lang="en-US" sz="3800" dirty="0"/>
          </a:p>
        </p:txBody>
      </p:sp>
      <p:sp>
        <p:nvSpPr>
          <p:cNvPr id="6" name="Text 3"/>
          <p:cNvSpPr/>
          <p:nvPr/>
        </p:nvSpPr>
        <p:spPr>
          <a:xfrm>
            <a:off x="2029968" y="3794760"/>
            <a:ext cx="8686800" cy="457200"/>
          </a:xfrm>
          <a:prstGeom prst="rect">
            <a:avLst/>
          </a:prstGeom>
          <a:noFill/>
          <a:ln/>
        </p:spPr>
        <p:txBody>
          <a:bodyPr wrap="square" lIns="0" tIns="0" rIns="0" bIns="0" rtlCol="0" anchor="ctr"/>
          <a:lstStyle/>
          <a:p>
            <a:pPr indent="0" marL="0">
              <a:buNone/>
            </a:pPr>
            <a:r>
              <a:rPr lang="en-US" sz="1600" dirty="0">
                <a:solidFill>
                  <a:srgbClr val="AFC3E0"/>
                </a:solidFill>
                <a:latin typeface="Calibri" pitchFamily="34" charset="0"/>
                <a:ea typeface="Calibri" pitchFamily="34" charset="-122"/>
                <a:cs typeface="Calibri" pitchFamily="34" charset="-120"/>
              </a:rPr>
              <a:t>From admission to discharge</a:t>
            </a:r>
            <a:endParaRPr lang="en-US" sz="1600" dirty="0"/>
          </a:p>
        </p:txBody>
      </p:sp>
      <p:sp>
        <p:nvSpPr>
          <p:cNvPr id="7" name="Shape 4"/>
          <p:cNvSpPr/>
          <p:nvPr/>
        </p:nvSpPr>
        <p:spPr>
          <a:xfrm>
            <a:off x="2029968" y="4480560"/>
            <a:ext cx="2743200" cy="502920"/>
          </a:xfrm>
          <a:prstGeom prst="roundRect">
            <a:avLst>
              <a:gd name="adj" fmla="val 14545"/>
            </a:avLst>
          </a:prstGeom>
          <a:solidFill>
            <a:srgbClr val="081B33"/>
          </a:solidFill>
          <a:ln w="12700">
            <a:solidFill>
              <a:srgbClr val="13877F"/>
            </a:solidFill>
            <a:prstDash val="solid"/>
          </a:ln>
        </p:spPr>
      </p:sp>
      <p:sp>
        <p:nvSpPr>
          <p:cNvPr id="8" name="Text 5"/>
          <p:cNvSpPr/>
          <p:nvPr/>
        </p:nvSpPr>
        <p:spPr>
          <a:xfrm>
            <a:off x="2029968" y="4480560"/>
            <a:ext cx="2743200" cy="502920"/>
          </a:xfrm>
          <a:prstGeom prst="rect">
            <a:avLst/>
          </a:prstGeom>
          <a:noFill/>
          <a:ln/>
        </p:spPr>
        <p:txBody>
          <a:bodyPr wrap="square" lIns="0" tIns="0" rIns="0" bIns="0" rtlCol="0" anchor="ctr"/>
          <a:lstStyle/>
          <a:p>
            <a:pPr algn="ctr" indent="0" marL="0">
              <a:buNone/>
            </a:pPr>
            <a:r>
              <a:rPr lang="en-US" sz="1050" b="1" dirty="0">
                <a:solidFill>
                  <a:srgbClr val="13877F"/>
                </a:solidFill>
                <a:latin typeface="Calibri" pitchFamily="34" charset="0"/>
                <a:ea typeface="Calibri" pitchFamily="34" charset="-122"/>
                <a:cs typeface="Calibri" pitchFamily="34" charset="-120"/>
              </a:rPr>
              <a:t>PRESENTED BY  TEAM MEMBER 3</a:t>
            </a:r>
            <a:endParaRPr lang="en-US" sz="10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C708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PATIENT JOURNEY</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One Continuous Record, Start to Finish</a:t>
            </a:r>
            <a:endParaRPr lang="en-US" sz="3000" dirty="0"/>
          </a:p>
        </p:txBody>
      </p:sp>
      <p:sp>
        <p:nvSpPr>
          <p:cNvPr id="4" name="Shape 2"/>
          <p:cNvSpPr/>
          <p:nvPr/>
        </p:nvSpPr>
        <p:spPr>
          <a:xfrm>
            <a:off x="731520" y="2468880"/>
            <a:ext cx="2442134" cy="3017520"/>
          </a:xfrm>
          <a:prstGeom prst="roundRect">
            <a:avLst>
              <a:gd name="adj" fmla="val 2621"/>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5" name="Shape 3"/>
          <p:cNvSpPr/>
          <p:nvPr/>
        </p:nvSpPr>
        <p:spPr>
          <a:xfrm>
            <a:off x="1751419" y="2267712"/>
            <a:ext cx="402336" cy="402336"/>
          </a:xfrm>
          <a:prstGeom prst="ellipse">
            <a:avLst/>
          </a:prstGeom>
          <a:solidFill>
            <a:srgbClr val="13877F"/>
          </a:solidFill>
          <a:ln/>
        </p:spPr>
      </p:sp>
      <p:sp>
        <p:nvSpPr>
          <p:cNvPr id="6" name="Text 4"/>
          <p:cNvSpPr/>
          <p:nvPr/>
        </p:nvSpPr>
        <p:spPr>
          <a:xfrm>
            <a:off x="1751419" y="22677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1659979" y="2788920"/>
            <a:ext cx="585216" cy="585216"/>
          </a:xfrm>
          <a:prstGeom prst="ellipse">
            <a:avLst/>
          </a:prstGeom>
          <a:solidFill>
            <a:srgbClr val="E4F3F1"/>
          </a:solidFill>
          <a:ln/>
        </p:spPr>
      </p:sp>
      <p:pic>
        <p:nvPicPr>
          <p:cNvPr id="8" name="Image 0" descr="preencoded.png">    </p:cNvPr>
          <p:cNvPicPr>
            <a:picLocks noChangeAspect="1"/>
          </p:cNvPicPr>
          <p:nvPr/>
        </p:nvPicPr>
        <p:blipFill>
          <a:blip r:embed="rId1"/>
          <a:stretch>
            <a:fillRect/>
          </a:stretch>
        </p:blipFill>
        <p:spPr>
          <a:xfrm>
            <a:off x="1812135" y="2941076"/>
            <a:ext cx="280904" cy="280904"/>
          </a:xfrm>
          <a:prstGeom prst="rect">
            <a:avLst/>
          </a:prstGeom>
        </p:spPr>
      </p:pic>
      <p:sp>
        <p:nvSpPr>
          <p:cNvPr id="9" name="Text 6"/>
          <p:cNvSpPr/>
          <p:nvPr/>
        </p:nvSpPr>
        <p:spPr>
          <a:xfrm>
            <a:off x="896112" y="3611880"/>
            <a:ext cx="2112950" cy="603504"/>
          </a:xfrm>
          <a:prstGeom prst="rect">
            <a:avLst/>
          </a:prstGeom>
          <a:noFill/>
          <a:ln/>
        </p:spPr>
        <p:txBody>
          <a:bodyPr wrap="square" lIns="0" tIns="0" rIns="0" bIns="0" rtlCol="0" anchor="ctr"/>
          <a:lstStyle/>
          <a:p>
            <a:pPr algn="ctr" indent="0" marL="0">
              <a:buNone/>
            </a:pPr>
            <a:r>
              <a:rPr lang="en-US" sz="1300" b="1" dirty="0">
                <a:solidFill>
                  <a:srgbClr val="1A2333"/>
                </a:solidFill>
                <a:latin typeface="Calibri" pitchFamily="34" charset="0"/>
                <a:ea typeface="Calibri" pitchFamily="34" charset="-122"/>
                <a:cs typeface="Calibri" pitchFamily="34" charset="-120"/>
              </a:rPr>
              <a:t>Admission</a:t>
            </a:r>
            <a:endParaRPr lang="en-US" sz="1300" dirty="0"/>
          </a:p>
        </p:txBody>
      </p:sp>
      <p:sp>
        <p:nvSpPr>
          <p:cNvPr id="10" name="Text 7"/>
          <p:cNvSpPr/>
          <p:nvPr/>
        </p:nvSpPr>
        <p:spPr>
          <a:xfrm>
            <a:off x="896112" y="4206240"/>
            <a:ext cx="2112950" cy="1188720"/>
          </a:xfrm>
          <a:prstGeom prst="rect">
            <a:avLst/>
          </a:prstGeom>
          <a:noFill/>
          <a:ln/>
        </p:spPr>
        <p:txBody>
          <a:bodyPr wrap="square" lIns="0" tIns="0" rIns="0" bIns="0"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Patient + bed + attending doctor, chief complaint and provisional diagnosis captured on entry</a:t>
            </a:r>
            <a:endParaRPr lang="en-US" sz="1050" dirty="0"/>
          </a:p>
        </p:txBody>
      </p:sp>
      <p:sp>
        <p:nvSpPr>
          <p:cNvPr id="11" name="Shape 8"/>
          <p:cNvSpPr/>
          <p:nvPr/>
        </p:nvSpPr>
        <p:spPr>
          <a:xfrm>
            <a:off x="3191942" y="3867912"/>
            <a:ext cx="283464" cy="219456"/>
          </a:xfrm>
          <a:prstGeom prst="rightArrow">
            <a:avLst/>
          </a:prstGeom>
          <a:solidFill>
            <a:srgbClr val="C7D3E2"/>
          </a:solidFill>
          <a:ln/>
        </p:spPr>
      </p:sp>
      <p:sp>
        <p:nvSpPr>
          <p:cNvPr id="12" name="Shape 9"/>
          <p:cNvSpPr/>
          <p:nvPr/>
        </p:nvSpPr>
        <p:spPr>
          <a:xfrm>
            <a:off x="3493694" y="2468880"/>
            <a:ext cx="2442134" cy="3017520"/>
          </a:xfrm>
          <a:prstGeom prst="roundRect">
            <a:avLst>
              <a:gd name="adj" fmla="val 2621"/>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3" name="Shape 10"/>
          <p:cNvSpPr/>
          <p:nvPr/>
        </p:nvSpPr>
        <p:spPr>
          <a:xfrm>
            <a:off x="4513593" y="2267712"/>
            <a:ext cx="402336" cy="402336"/>
          </a:xfrm>
          <a:prstGeom prst="ellipse">
            <a:avLst/>
          </a:prstGeom>
          <a:solidFill>
            <a:srgbClr val="13877F"/>
          </a:solidFill>
          <a:ln/>
        </p:spPr>
      </p:sp>
      <p:sp>
        <p:nvSpPr>
          <p:cNvPr id="14" name="Text 11"/>
          <p:cNvSpPr/>
          <p:nvPr/>
        </p:nvSpPr>
        <p:spPr>
          <a:xfrm>
            <a:off x="4513593" y="22677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Shape 12"/>
          <p:cNvSpPr/>
          <p:nvPr/>
        </p:nvSpPr>
        <p:spPr>
          <a:xfrm>
            <a:off x="4422153" y="2788920"/>
            <a:ext cx="585216" cy="585216"/>
          </a:xfrm>
          <a:prstGeom prst="ellipse">
            <a:avLst/>
          </a:prstGeom>
          <a:solidFill>
            <a:srgbClr val="E4F3F1"/>
          </a:solidFill>
          <a:ln/>
        </p:spPr>
      </p:sp>
      <p:pic>
        <p:nvPicPr>
          <p:cNvPr id="16" name="Image 1" descr="preencoded.png">    </p:cNvPr>
          <p:cNvPicPr>
            <a:picLocks noChangeAspect="1"/>
          </p:cNvPicPr>
          <p:nvPr/>
        </p:nvPicPr>
        <p:blipFill>
          <a:blip r:embed="rId2"/>
          <a:stretch>
            <a:fillRect/>
          </a:stretch>
        </p:blipFill>
        <p:spPr>
          <a:xfrm>
            <a:off x="4574309" y="2941076"/>
            <a:ext cx="280904" cy="280904"/>
          </a:xfrm>
          <a:prstGeom prst="rect">
            <a:avLst/>
          </a:prstGeom>
        </p:spPr>
      </p:pic>
      <p:sp>
        <p:nvSpPr>
          <p:cNvPr id="17" name="Text 13"/>
          <p:cNvSpPr/>
          <p:nvPr/>
        </p:nvSpPr>
        <p:spPr>
          <a:xfrm>
            <a:off x="3658286" y="3611880"/>
            <a:ext cx="2112950" cy="603504"/>
          </a:xfrm>
          <a:prstGeom prst="rect">
            <a:avLst/>
          </a:prstGeom>
          <a:noFill/>
          <a:ln/>
        </p:spPr>
        <p:txBody>
          <a:bodyPr wrap="square" lIns="0" tIns="0" rIns="0" bIns="0" rtlCol="0" anchor="ctr"/>
          <a:lstStyle/>
          <a:p>
            <a:pPr algn="ctr" indent="0" marL="0">
              <a:buNone/>
            </a:pPr>
            <a:r>
              <a:rPr lang="en-US" sz="1300" b="1" dirty="0">
                <a:solidFill>
                  <a:srgbClr val="1A2333"/>
                </a:solidFill>
                <a:latin typeface="Calibri" pitchFamily="34" charset="0"/>
                <a:ea typeface="Calibri" pitchFamily="34" charset="-122"/>
                <a:cs typeface="Calibri" pitchFamily="34" charset="-120"/>
              </a:rPr>
              <a:t>Nurse Assignment</a:t>
            </a:r>
            <a:endParaRPr lang="en-US" sz="1300" dirty="0"/>
          </a:p>
        </p:txBody>
      </p:sp>
      <p:sp>
        <p:nvSpPr>
          <p:cNvPr id="18" name="Text 14"/>
          <p:cNvSpPr/>
          <p:nvPr/>
        </p:nvSpPr>
        <p:spPr>
          <a:xfrm>
            <a:off x="3658286" y="4206240"/>
            <a:ext cx="2112950" cy="1188720"/>
          </a:xfrm>
          <a:prstGeom prst="rect">
            <a:avLst/>
          </a:prstGeom>
          <a:noFill/>
          <a:ln/>
        </p:spPr>
        <p:txBody>
          <a:bodyPr wrap="square" lIns="0" tIns="0" rIns="0" bIns="0"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One or more nurses assigned per admission, with full handover history</a:t>
            </a:r>
            <a:endParaRPr lang="en-US" sz="1050" dirty="0"/>
          </a:p>
        </p:txBody>
      </p:sp>
      <p:sp>
        <p:nvSpPr>
          <p:cNvPr id="19" name="Shape 15"/>
          <p:cNvSpPr/>
          <p:nvPr/>
        </p:nvSpPr>
        <p:spPr>
          <a:xfrm>
            <a:off x="5954116" y="3867912"/>
            <a:ext cx="283464" cy="219456"/>
          </a:xfrm>
          <a:prstGeom prst="rightArrow">
            <a:avLst/>
          </a:prstGeom>
          <a:solidFill>
            <a:srgbClr val="C7D3E2"/>
          </a:solidFill>
          <a:ln/>
        </p:spPr>
      </p:sp>
      <p:sp>
        <p:nvSpPr>
          <p:cNvPr id="20" name="Shape 16"/>
          <p:cNvSpPr/>
          <p:nvPr/>
        </p:nvSpPr>
        <p:spPr>
          <a:xfrm>
            <a:off x="6255868" y="2468880"/>
            <a:ext cx="2442134" cy="3017520"/>
          </a:xfrm>
          <a:prstGeom prst="roundRect">
            <a:avLst>
              <a:gd name="adj" fmla="val 2621"/>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1" name="Shape 17"/>
          <p:cNvSpPr/>
          <p:nvPr/>
        </p:nvSpPr>
        <p:spPr>
          <a:xfrm>
            <a:off x="7275766" y="2267712"/>
            <a:ext cx="402336" cy="402336"/>
          </a:xfrm>
          <a:prstGeom prst="ellipse">
            <a:avLst/>
          </a:prstGeom>
          <a:solidFill>
            <a:srgbClr val="13877F"/>
          </a:solidFill>
          <a:ln/>
        </p:spPr>
      </p:sp>
      <p:sp>
        <p:nvSpPr>
          <p:cNvPr id="22" name="Text 18"/>
          <p:cNvSpPr/>
          <p:nvPr/>
        </p:nvSpPr>
        <p:spPr>
          <a:xfrm>
            <a:off x="7275766" y="22677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19"/>
          <p:cNvSpPr/>
          <p:nvPr/>
        </p:nvSpPr>
        <p:spPr>
          <a:xfrm>
            <a:off x="7184326" y="2788920"/>
            <a:ext cx="585216" cy="585216"/>
          </a:xfrm>
          <a:prstGeom prst="ellipse">
            <a:avLst/>
          </a:prstGeom>
          <a:solidFill>
            <a:srgbClr val="E4F3F1"/>
          </a:solidFill>
          <a:ln/>
        </p:spPr>
      </p:sp>
      <p:pic>
        <p:nvPicPr>
          <p:cNvPr id="24" name="Image 2" descr="preencoded.png">    </p:cNvPr>
          <p:cNvPicPr>
            <a:picLocks noChangeAspect="1"/>
          </p:cNvPicPr>
          <p:nvPr/>
        </p:nvPicPr>
        <p:blipFill>
          <a:blip r:embed="rId3"/>
          <a:stretch>
            <a:fillRect/>
          </a:stretch>
        </p:blipFill>
        <p:spPr>
          <a:xfrm>
            <a:off x="7336483" y="2941076"/>
            <a:ext cx="280904" cy="280904"/>
          </a:xfrm>
          <a:prstGeom prst="rect">
            <a:avLst/>
          </a:prstGeom>
        </p:spPr>
      </p:pic>
      <p:sp>
        <p:nvSpPr>
          <p:cNvPr id="25" name="Text 20"/>
          <p:cNvSpPr/>
          <p:nvPr/>
        </p:nvSpPr>
        <p:spPr>
          <a:xfrm>
            <a:off x="6420460" y="3611880"/>
            <a:ext cx="2112950" cy="603504"/>
          </a:xfrm>
          <a:prstGeom prst="rect">
            <a:avLst/>
          </a:prstGeom>
          <a:noFill/>
          <a:ln/>
        </p:spPr>
        <p:txBody>
          <a:bodyPr wrap="square" lIns="0" tIns="0" rIns="0" bIns="0" rtlCol="0" anchor="ctr"/>
          <a:lstStyle/>
          <a:p>
            <a:pPr algn="ctr" indent="0" marL="0">
              <a:buNone/>
            </a:pPr>
            <a:r>
              <a:rPr lang="en-US" sz="1300" b="1" dirty="0">
                <a:solidFill>
                  <a:srgbClr val="1A2333"/>
                </a:solidFill>
                <a:latin typeface="Calibri" pitchFamily="34" charset="0"/>
                <a:ea typeface="Calibri" pitchFamily="34" charset="-122"/>
                <a:cs typeface="Calibri" pitchFamily="34" charset="-120"/>
              </a:rPr>
              <a:t>Clinical Recording</a:t>
            </a:r>
            <a:endParaRPr lang="en-US" sz="1300" dirty="0"/>
          </a:p>
        </p:txBody>
      </p:sp>
      <p:sp>
        <p:nvSpPr>
          <p:cNvPr id="26" name="Text 21"/>
          <p:cNvSpPr/>
          <p:nvPr/>
        </p:nvSpPr>
        <p:spPr>
          <a:xfrm>
            <a:off x="6420460" y="4206240"/>
            <a:ext cx="2112950" cy="1188720"/>
          </a:xfrm>
          <a:prstGeom prst="rect">
            <a:avLst/>
          </a:prstGeom>
          <a:noFill/>
          <a:ln/>
        </p:spPr>
        <p:txBody>
          <a:bodyPr wrap="square" lIns="0" tIns="0" rIns="0" bIns="0"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Vitals, medications, labs, diagnoses, notes — recorded continuously by the care team</a:t>
            </a:r>
            <a:endParaRPr lang="en-US" sz="1050" dirty="0"/>
          </a:p>
        </p:txBody>
      </p:sp>
      <p:sp>
        <p:nvSpPr>
          <p:cNvPr id="27" name="Shape 22"/>
          <p:cNvSpPr/>
          <p:nvPr/>
        </p:nvSpPr>
        <p:spPr>
          <a:xfrm>
            <a:off x="8716289" y="3867912"/>
            <a:ext cx="283464" cy="219456"/>
          </a:xfrm>
          <a:prstGeom prst="rightArrow">
            <a:avLst/>
          </a:prstGeom>
          <a:solidFill>
            <a:srgbClr val="C7D3E2"/>
          </a:solidFill>
          <a:ln/>
        </p:spPr>
      </p:sp>
      <p:sp>
        <p:nvSpPr>
          <p:cNvPr id="28" name="Shape 23"/>
          <p:cNvSpPr/>
          <p:nvPr/>
        </p:nvSpPr>
        <p:spPr>
          <a:xfrm>
            <a:off x="9018041" y="2468880"/>
            <a:ext cx="2442134" cy="3017520"/>
          </a:xfrm>
          <a:prstGeom prst="roundRect">
            <a:avLst>
              <a:gd name="adj" fmla="val 2621"/>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9" name="Shape 24"/>
          <p:cNvSpPr/>
          <p:nvPr/>
        </p:nvSpPr>
        <p:spPr>
          <a:xfrm>
            <a:off x="10037940" y="2267712"/>
            <a:ext cx="402336" cy="402336"/>
          </a:xfrm>
          <a:prstGeom prst="ellipse">
            <a:avLst/>
          </a:prstGeom>
          <a:solidFill>
            <a:srgbClr val="13877F"/>
          </a:solidFill>
          <a:ln/>
        </p:spPr>
      </p:sp>
      <p:sp>
        <p:nvSpPr>
          <p:cNvPr id="30" name="Text 25"/>
          <p:cNvSpPr/>
          <p:nvPr/>
        </p:nvSpPr>
        <p:spPr>
          <a:xfrm>
            <a:off x="10037940" y="22677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Shape 26"/>
          <p:cNvSpPr/>
          <p:nvPr/>
        </p:nvSpPr>
        <p:spPr>
          <a:xfrm>
            <a:off x="9946500" y="2788920"/>
            <a:ext cx="585216" cy="585216"/>
          </a:xfrm>
          <a:prstGeom prst="ellipse">
            <a:avLst/>
          </a:prstGeom>
          <a:solidFill>
            <a:srgbClr val="E4F3F1"/>
          </a:solidFill>
          <a:ln/>
        </p:spPr>
      </p:sp>
      <p:pic>
        <p:nvPicPr>
          <p:cNvPr id="32" name="Image 3" descr="preencoded.png">    </p:cNvPr>
          <p:cNvPicPr>
            <a:picLocks noChangeAspect="1"/>
          </p:cNvPicPr>
          <p:nvPr/>
        </p:nvPicPr>
        <p:blipFill>
          <a:blip r:embed="rId4"/>
          <a:stretch>
            <a:fillRect/>
          </a:stretch>
        </p:blipFill>
        <p:spPr>
          <a:xfrm>
            <a:off x="10098656" y="2941076"/>
            <a:ext cx="280904" cy="280904"/>
          </a:xfrm>
          <a:prstGeom prst="rect">
            <a:avLst/>
          </a:prstGeom>
        </p:spPr>
      </p:pic>
      <p:sp>
        <p:nvSpPr>
          <p:cNvPr id="33" name="Text 27"/>
          <p:cNvSpPr/>
          <p:nvPr/>
        </p:nvSpPr>
        <p:spPr>
          <a:xfrm>
            <a:off x="9182633" y="3611880"/>
            <a:ext cx="2112950" cy="603504"/>
          </a:xfrm>
          <a:prstGeom prst="rect">
            <a:avLst/>
          </a:prstGeom>
          <a:noFill/>
          <a:ln/>
        </p:spPr>
        <p:txBody>
          <a:bodyPr wrap="square" lIns="0" tIns="0" rIns="0" bIns="0" rtlCol="0" anchor="ctr"/>
          <a:lstStyle/>
          <a:p>
            <a:pPr algn="ctr" indent="0" marL="0">
              <a:buNone/>
            </a:pPr>
            <a:r>
              <a:rPr lang="en-US" sz="1300" b="1" dirty="0">
                <a:solidFill>
                  <a:srgbClr val="1A2333"/>
                </a:solidFill>
                <a:latin typeface="Calibri" pitchFamily="34" charset="0"/>
                <a:ea typeface="Calibri" pitchFamily="34" charset="-122"/>
                <a:cs typeface="Calibri" pitchFamily="34" charset="-120"/>
              </a:rPr>
              <a:t>Treatment &amp; Discharge</a:t>
            </a:r>
            <a:endParaRPr lang="en-US" sz="1300" dirty="0"/>
          </a:p>
        </p:txBody>
      </p:sp>
      <p:sp>
        <p:nvSpPr>
          <p:cNvPr id="34" name="Text 28"/>
          <p:cNvSpPr/>
          <p:nvPr/>
        </p:nvSpPr>
        <p:spPr>
          <a:xfrm>
            <a:off x="9182633" y="4206240"/>
            <a:ext cx="2112950" cy="1188720"/>
          </a:xfrm>
          <a:prstGeom prst="rect">
            <a:avLst/>
          </a:prstGeom>
          <a:noFill/>
          <a:ln/>
        </p:spPr>
        <p:txBody>
          <a:bodyPr wrap="square" lIns="0" tIns="0" rIns="0" bIns="0"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Specialist approves treatment changes and is the sole role authorized to discharge</a:t>
            </a:r>
            <a:endParaRPr lang="en-US" sz="1050" dirty="0"/>
          </a:p>
        </p:txBody>
      </p:sp>
      <p:sp>
        <p:nvSpPr>
          <p:cNvPr id="35" name="Text 2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CLINICAL RECORDING</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Everything the Bedside Needs, In Real Time</a:t>
            </a:r>
            <a:endParaRPr lang="en-US" sz="3000" dirty="0"/>
          </a:p>
        </p:txBody>
      </p:sp>
      <p:sp>
        <p:nvSpPr>
          <p:cNvPr id="4" name="Shape 2"/>
          <p:cNvSpPr/>
          <p:nvPr/>
        </p:nvSpPr>
        <p:spPr>
          <a:xfrm>
            <a:off x="731520" y="169164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5" name="Shape 3"/>
          <p:cNvSpPr/>
          <p:nvPr/>
        </p:nvSpPr>
        <p:spPr>
          <a:xfrm>
            <a:off x="987552" y="1929384"/>
            <a:ext cx="512064" cy="512064"/>
          </a:xfrm>
          <a:prstGeom prst="ellipse">
            <a:avLst/>
          </a:prstGeom>
          <a:solidFill>
            <a:srgbClr val="E4F3F1"/>
          </a:solidFill>
          <a:ln/>
        </p:spPr>
      </p:sp>
      <p:pic>
        <p:nvPicPr>
          <p:cNvPr id="6" name="Image 0" descr="preencoded.png">    </p:cNvPr>
          <p:cNvPicPr>
            <a:picLocks noChangeAspect="1"/>
          </p:cNvPicPr>
          <p:nvPr/>
        </p:nvPicPr>
        <p:blipFill>
          <a:blip r:embed="rId1"/>
          <a:stretch>
            <a:fillRect/>
          </a:stretch>
        </p:blipFill>
        <p:spPr>
          <a:xfrm>
            <a:off x="1120689" y="2062521"/>
            <a:ext cx="245791" cy="245791"/>
          </a:xfrm>
          <a:prstGeom prst="rect">
            <a:avLst/>
          </a:prstGeom>
        </p:spPr>
      </p:pic>
      <p:sp>
        <p:nvSpPr>
          <p:cNvPr id="7" name="Text 4"/>
          <p:cNvSpPr/>
          <p:nvPr/>
        </p:nvSpPr>
        <p:spPr>
          <a:xfrm>
            <a:off x="987552" y="256032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Vital Signs</a:t>
            </a:r>
            <a:endParaRPr lang="en-US" sz="1350" dirty="0"/>
          </a:p>
        </p:txBody>
      </p:sp>
      <p:sp>
        <p:nvSpPr>
          <p:cNvPr id="8" name="Text 5"/>
          <p:cNvSpPr/>
          <p:nvPr/>
        </p:nvSpPr>
        <p:spPr>
          <a:xfrm>
            <a:off x="987552" y="289864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Temperature, pulse, BP, respiratory rate, SpO2 — validated on entry</a:t>
            </a:r>
            <a:endParaRPr lang="en-US" sz="1100" dirty="0"/>
          </a:p>
        </p:txBody>
      </p:sp>
      <p:sp>
        <p:nvSpPr>
          <p:cNvPr id="9" name="Shape 6"/>
          <p:cNvSpPr/>
          <p:nvPr/>
        </p:nvSpPr>
        <p:spPr>
          <a:xfrm>
            <a:off x="4399178" y="169164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0" name="Shape 7"/>
          <p:cNvSpPr/>
          <p:nvPr/>
        </p:nvSpPr>
        <p:spPr>
          <a:xfrm>
            <a:off x="4655210" y="1929384"/>
            <a:ext cx="512064" cy="512064"/>
          </a:xfrm>
          <a:prstGeom prst="ellipse">
            <a:avLst/>
          </a:prstGeom>
          <a:solidFill>
            <a:srgbClr val="E4F3F1"/>
          </a:solidFill>
          <a:ln/>
        </p:spPr>
      </p:sp>
      <p:pic>
        <p:nvPicPr>
          <p:cNvPr id="11" name="Image 1" descr="preencoded.png">    </p:cNvPr>
          <p:cNvPicPr>
            <a:picLocks noChangeAspect="1"/>
          </p:cNvPicPr>
          <p:nvPr/>
        </p:nvPicPr>
        <p:blipFill>
          <a:blip r:embed="rId2"/>
          <a:stretch>
            <a:fillRect/>
          </a:stretch>
        </p:blipFill>
        <p:spPr>
          <a:xfrm>
            <a:off x="4788347" y="2062521"/>
            <a:ext cx="245791" cy="245791"/>
          </a:xfrm>
          <a:prstGeom prst="rect">
            <a:avLst/>
          </a:prstGeom>
        </p:spPr>
      </p:pic>
      <p:sp>
        <p:nvSpPr>
          <p:cNvPr id="12" name="Text 8"/>
          <p:cNvSpPr/>
          <p:nvPr/>
        </p:nvSpPr>
        <p:spPr>
          <a:xfrm>
            <a:off x="4655210" y="256032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Medications &amp; eMAR</a:t>
            </a:r>
            <a:endParaRPr lang="en-US" sz="1350" dirty="0"/>
          </a:p>
        </p:txBody>
      </p:sp>
      <p:sp>
        <p:nvSpPr>
          <p:cNvPr id="13" name="Text 9"/>
          <p:cNvSpPr/>
          <p:nvPr/>
        </p:nvSpPr>
        <p:spPr>
          <a:xfrm>
            <a:off x="4655210" y="289864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Doctor prescribes, nurse administers and logs each dose against the schedule</a:t>
            </a:r>
            <a:endParaRPr lang="en-US" sz="1100" dirty="0"/>
          </a:p>
        </p:txBody>
      </p:sp>
      <p:sp>
        <p:nvSpPr>
          <p:cNvPr id="14" name="Shape 10"/>
          <p:cNvSpPr/>
          <p:nvPr/>
        </p:nvSpPr>
        <p:spPr>
          <a:xfrm>
            <a:off x="8066837" y="169164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5" name="Shape 11"/>
          <p:cNvSpPr/>
          <p:nvPr/>
        </p:nvSpPr>
        <p:spPr>
          <a:xfrm>
            <a:off x="8322869" y="1929384"/>
            <a:ext cx="512064" cy="512064"/>
          </a:xfrm>
          <a:prstGeom prst="ellipse">
            <a:avLst/>
          </a:prstGeom>
          <a:solidFill>
            <a:srgbClr val="E4F3F1"/>
          </a:solidFill>
          <a:ln/>
        </p:spPr>
      </p:sp>
      <p:pic>
        <p:nvPicPr>
          <p:cNvPr id="16" name="Image 2" descr="preencoded.png">    </p:cNvPr>
          <p:cNvPicPr>
            <a:picLocks noChangeAspect="1"/>
          </p:cNvPicPr>
          <p:nvPr/>
        </p:nvPicPr>
        <p:blipFill>
          <a:blip r:embed="rId3"/>
          <a:stretch>
            <a:fillRect/>
          </a:stretch>
        </p:blipFill>
        <p:spPr>
          <a:xfrm>
            <a:off x="8456005" y="2062521"/>
            <a:ext cx="245791" cy="245791"/>
          </a:xfrm>
          <a:prstGeom prst="rect">
            <a:avLst/>
          </a:prstGeom>
        </p:spPr>
      </p:pic>
      <p:sp>
        <p:nvSpPr>
          <p:cNvPr id="17" name="Text 12"/>
          <p:cNvSpPr/>
          <p:nvPr/>
        </p:nvSpPr>
        <p:spPr>
          <a:xfrm>
            <a:off x="8322869" y="256032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Labs &amp; Investigations</a:t>
            </a:r>
            <a:endParaRPr lang="en-US" sz="1350" dirty="0"/>
          </a:p>
        </p:txBody>
      </p:sp>
      <p:sp>
        <p:nvSpPr>
          <p:cNvPr id="18" name="Text 13"/>
          <p:cNvSpPr/>
          <p:nvPr/>
        </p:nvSpPr>
        <p:spPr>
          <a:xfrm>
            <a:off x="8322869" y="289864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Results and ordered investigations, linked to the admission that requested them</a:t>
            </a:r>
            <a:endParaRPr lang="en-US" sz="1100" dirty="0"/>
          </a:p>
        </p:txBody>
      </p:sp>
      <p:sp>
        <p:nvSpPr>
          <p:cNvPr id="19" name="Shape 14"/>
          <p:cNvSpPr/>
          <p:nvPr/>
        </p:nvSpPr>
        <p:spPr>
          <a:xfrm>
            <a:off x="731520" y="411480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0" name="Shape 15"/>
          <p:cNvSpPr/>
          <p:nvPr/>
        </p:nvSpPr>
        <p:spPr>
          <a:xfrm>
            <a:off x="987552" y="4352544"/>
            <a:ext cx="512064" cy="512064"/>
          </a:xfrm>
          <a:prstGeom prst="ellipse">
            <a:avLst/>
          </a:prstGeom>
          <a:solidFill>
            <a:srgbClr val="E4F3F1"/>
          </a:solidFill>
          <a:ln/>
        </p:spPr>
      </p:sp>
      <p:pic>
        <p:nvPicPr>
          <p:cNvPr id="21" name="Image 3" descr="preencoded.png">    </p:cNvPr>
          <p:cNvPicPr>
            <a:picLocks noChangeAspect="1"/>
          </p:cNvPicPr>
          <p:nvPr/>
        </p:nvPicPr>
        <p:blipFill>
          <a:blip r:embed="rId4"/>
          <a:stretch>
            <a:fillRect/>
          </a:stretch>
        </p:blipFill>
        <p:spPr>
          <a:xfrm>
            <a:off x="1120689" y="4485681"/>
            <a:ext cx="245791" cy="245791"/>
          </a:xfrm>
          <a:prstGeom prst="rect">
            <a:avLst/>
          </a:prstGeom>
        </p:spPr>
      </p:pic>
      <p:sp>
        <p:nvSpPr>
          <p:cNvPr id="22" name="Text 16"/>
          <p:cNvSpPr/>
          <p:nvPr/>
        </p:nvSpPr>
        <p:spPr>
          <a:xfrm>
            <a:off x="987552" y="498348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Examinations &amp; SOAP Notes</a:t>
            </a:r>
            <a:endParaRPr lang="en-US" sz="1350" dirty="0"/>
          </a:p>
        </p:txBody>
      </p:sp>
      <p:sp>
        <p:nvSpPr>
          <p:cNvPr id="23" name="Text 17"/>
          <p:cNvSpPr/>
          <p:nvPr/>
        </p:nvSpPr>
        <p:spPr>
          <a:xfrm>
            <a:off x="987552" y="532180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Structured clinical examinations and follow-up documentation</a:t>
            </a:r>
            <a:endParaRPr lang="en-US" sz="1100" dirty="0"/>
          </a:p>
        </p:txBody>
      </p:sp>
      <p:sp>
        <p:nvSpPr>
          <p:cNvPr id="24" name="Shape 18"/>
          <p:cNvSpPr/>
          <p:nvPr/>
        </p:nvSpPr>
        <p:spPr>
          <a:xfrm>
            <a:off x="4399178" y="411480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5" name="Shape 19"/>
          <p:cNvSpPr/>
          <p:nvPr/>
        </p:nvSpPr>
        <p:spPr>
          <a:xfrm>
            <a:off x="4655210" y="4352544"/>
            <a:ext cx="512064" cy="512064"/>
          </a:xfrm>
          <a:prstGeom prst="ellipse">
            <a:avLst/>
          </a:prstGeom>
          <a:solidFill>
            <a:srgbClr val="E4F3F1"/>
          </a:solidFill>
          <a:ln/>
        </p:spPr>
      </p:sp>
      <p:pic>
        <p:nvPicPr>
          <p:cNvPr id="26" name="Image 4" descr="preencoded.png">    </p:cNvPr>
          <p:cNvPicPr>
            <a:picLocks noChangeAspect="1"/>
          </p:cNvPicPr>
          <p:nvPr/>
        </p:nvPicPr>
        <p:blipFill>
          <a:blip r:embed="rId5"/>
          <a:stretch>
            <a:fillRect/>
          </a:stretch>
        </p:blipFill>
        <p:spPr>
          <a:xfrm>
            <a:off x="4788347" y="4485681"/>
            <a:ext cx="245791" cy="245791"/>
          </a:xfrm>
          <a:prstGeom prst="rect">
            <a:avLst/>
          </a:prstGeom>
        </p:spPr>
      </p:pic>
      <p:sp>
        <p:nvSpPr>
          <p:cNvPr id="27" name="Text 20"/>
          <p:cNvSpPr/>
          <p:nvPr/>
        </p:nvSpPr>
        <p:spPr>
          <a:xfrm>
            <a:off x="4655210" y="498348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Clinical &amp; Nursing Notes</a:t>
            </a:r>
            <a:endParaRPr lang="en-US" sz="1350" dirty="0"/>
          </a:p>
        </p:txBody>
      </p:sp>
      <p:sp>
        <p:nvSpPr>
          <p:cNvPr id="28" name="Text 21"/>
          <p:cNvSpPr/>
          <p:nvPr/>
        </p:nvSpPr>
        <p:spPr>
          <a:xfrm>
            <a:off x="4655210" y="532180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Free-text notes, feeding directly into the AI assistant's searchable context</a:t>
            </a:r>
            <a:endParaRPr lang="en-US" sz="1100" dirty="0"/>
          </a:p>
        </p:txBody>
      </p:sp>
      <p:sp>
        <p:nvSpPr>
          <p:cNvPr id="29" name="Shape 22"/>
          <p:cNvSpPr/>
          <p:nvPr/>
        </p:nvSpPr>
        <p:spPr>
          <a:xfrm>
            <a:off x="8066837" y="4114800"/>
            <a:ext cx="339333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30" name="Shape 23"/>
          <p:cNvSpPr/>
          <p:nvPr/>
        </p:nvSpPr>
        <p:spPr>
          <a:xfrm>
            <a:off x="8322869" y="4352544"/>
            <a:ext cx="512064" cy="512064"/>
          </a:xfrm>
          <a:prstGeom prst="ellipse">
            <a:avLst/>
          </a:prstGeom>
          <a:solidFill>
            <a:srgbClr val="E4F3F1"/>
          </a:solidFill>
          <a:ln/>
        </p:spPr>
      </p:sp>
      <p:pic>
        <p:nvPicPr>
          <p:cNvPr id="31" name="Image 5" descr="preencoded.png">    </p:cNvPr>
          <p:cNvPicPr>
            <a:picLocks noChangeAspect="1"/>
          </p:cNvPicPr>
          <p:nvPr/>
        </p:nvPicPr>
        <p:blipFill>
          <a:blip r:embed="rId6"/>
          <a:stretch>
            <a:fillRect/>
          </a:stretch>
        </p:blipFill>
        <p:spPr>
          <a:xfrm>
            <a:off x="8456005" y="4485681"/>
            <a:ext cx="245791" cy="245791"/>
          </a:xfrm>
          <a:prstGeom prst="rect">
            <a:avLst/>
          </a:prstGeom>
        </p:spPr>
      </p:pic>
      <p:sp>
        <p:nvSpPr>
          <p:cNvPr id="32" name="Text 24"/>
          <p:cNvSpPr/>
          <p:nvPr/>
        </p:nvSpPr>
        <p:spPr>
          <a:xfrm>
            <a:off x="8322869" y="4983480"/>
            <a:ext cx="288127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Documents</a:t>
            </a:r>
            <a:endParaRPr lang="en-US" sz="1350" dirty="0"/>
          </a:p>
        </p:txBody>
      </p:sp>
      <p:sp>
        <p:nvSpPr>
          <p:cNvPr id="33" name="Text 25"/>
          <p:cNvSpPr/>
          <p:nvPr/>
        </p:nvSpPr>
        <p:spPr>
          <a:xfrm>
            <a:off x="8322869" y="5321808"/>
            <a:ext cx="288127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Lab reports and radiology uploads, automatically indexed for the AI assistant</a:t>
            </a:r>
            <a:endParaRPr lang="en-US" sz="1100" dirty="0"/>
          </a:p>
        </p:txBody>
      </p:sp>
      <p:sp>
        <p:nvSpPr>
          <p:cNvPr id="34" name="Text 2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DIAGNOSIS WORKFLOW</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A Closed Loop Between Doctor and Nurse</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Diagnosis isn't a one-way order — the bedside nurse can push back, and the loop only closes when a doctor responds.</a:t>
            </a:r>
            <a:endParaRPr lang="en-US" sz="1350" dirty="0"/>
          </a:p>
        </p:txBody>
      </p:sp>
      <p:sp>
        <p:nvSpPr>
          <p:cNvPr id="5" name="Shape 3"/>
          <p:cNvSpPr/>
          <p:nvPr/>
        </p:nvSpPr>
        <p:spPr>
          <a:xfrm>
            <a:off x="731520" y="2423160"/>
            <a:ext cx="1984797" cy="3108960"/>
          </a:xfrm>
          <a:prstGeom prst="roundRect">
            <a:avLst>
              <a:gd name="adj" fmla="val 322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6" name="Shape 4"/>
          <p:cNvSpPr/>
          <p:nvPr/>
        </p:nvSpPr>
        <p:spPr>
          <a:xfrm>
            <a:off x="1467886" y="2679192"/>
            <a:ext cx="512064" cy="512064"/>
          </a:xfrm>
          <a:prstGeom prst="ellipse">
            <a:avLst/>
          </a:prstGeom>
          <a:solidFill>
            <a:srgbClr val="E4F3F1"/>
          </a:solidFill>
          <a:ln/>
        </p:spPr>
      </p:sp>
      <p:pic>
        <p:nvPicPr>
          <p:cNvPr id="7" name="Image 0" descr="preencoded.png">    </p:cNvPr>
          <p:cNvPicPr>
            <a:picLocks noChangeAspect="1"/>
          </p:cNvPicPr>
          <p:nvPr/>
        </p:nvPicPr>
        <p:blipFill>
          <a:blip r:embed="rId1"/>
          <a:stretch>
            <a:fillRect/>
          </a:stretch>
        </p:blipFill>
        <p:spPr>
          <a:xfrm>
            <a:off x="1601023" y="2812329"/>
            <a:ext cx="245791" cy="245791"/>
          </a:xfrm>
          <a:prstGeom prst="rect">
            <a:avLst/>
          </a:prstGeom>
        </p:spPr>
      </p:pic>
      <p:sp>
        <p:nvSpPr>
          <p:cNvPr id="8" name="Text 5"/>
          <p:cNvSpPr/>
          <p:nvPr/>
        </p:nvSpPr>
        <p:spPr>
          <a:xfrm>
            <a:off x="841248" y="3383280"/>
            <a:ext cx="1765341" cy="603504"/>
          </a:xfrm>
          <a:prstGeom prst="rect">
            <a:avLst/>
          </a:prstGeom>
          <a:noFill/>
          <a:ln/>
        </p:spPr>
        <p:txBody>
          <a:bodyPr wrap="square" lIns="0" tIns="0" rIns="0" bIns="0" rtlCol="0" anchor="ctr"/>
          <a:lstStyle/>
          <a:p>
            <a:pPr algn="ctr" indent="0" marL="0">
              <a:buNone/>
            </a:pPr>
            <a:r>
              <a:rPr lang="en-US" sz="1150" b="1" dirty="0">
                <a:solidFill>
                  <a:srgbClr val="1A2333"/>
                </a:solidFill>
                <a:latin typeface="Calibri" pitchFamily="34" charset="0"/>
                <a:ea typeface="Calibri" pitchFamily="34" charset="-122"/>
                <a:cs typeface="Calibri" pitchFamily="34" charset="-120"/>
              </a:rPr>
              <a:t>Doctor diagnoses</a:t>
            </a:r>
            <a:endParaRPr lang="en-US" sz="1150" dirty="0"/>
          </a:p>
        </p:txBody>
      </p:sp>
      <p:sp>
        <p:nvSpPr>
          <p:cNvPr id="9" name="Text 6"/>
          <p:cNvSpPr/>
          <p:nvPr/>
        </p:nvSpPr>
        <p:spPr>
          <a:xfrm>
            <a:off x="822960" y="3931920"/>
            <a:ext cx="1801917" cy="1463040"/>
          </a:xfrm>
          <a:prstGeom prst="rect">
            <a:avLst/>
          </a:prstGeom>
          <a:noFill/>
          <a:ln/>
        </p:spPr>
        <p:txBody>
          <a:bodyPr wrap="square" lIns="0" tIns="0" rIns="0" bIns="0" rtlCol="0" anchor="t"/>
          <a:lstStyle/>
          <a:p>
            <a:pPr algn="ctr" indent="0" marL="0">
              <a:buNone/>
            </a:pPr>
            <a:r>
              <a:rPr lang="en-US" sz="950" dirty="0">
                <a:solidFill>
                  <a:srgbClr val="5B6B82"/>
                </a:solidFill>
                <a:latin typeface="Calibri" pitchFamily="34" charset="0"/>
                <a:ea typeface="Calibri" pitchFamily="34" charset="-122"/>
                <a:cs typeface="Calibri" pitchFamily="34" charset="-120"/>
              </a:rPr>
              <a:t>Typed as PRIMARY, SECONDARY, comorbidity, or complication</a:t>
            </a:r>
            <a:endParaRPr lang="en-US" sz="950" dirty="0"/>
          </a:p>
        </p:txBody>
      </p:sp>
      <p:sp>
        <p:nvSpPr>
          <p:cNvPr id="10" name="Shape 7"/>
          <p:cNvSpPr/>
          <p:nvPr/>
        </p:nvSpPr>
        <p:spPr>
          <a:xfrm>
            <a:off x="2725461" y="3895344"/>
            <a:ext cx="182880" cy="164592"/>
          </a:xfrm>
          <a:prstGeom prst="rightArrow">
            <a:avLst/>
          </a:prstGeom>
          <a:solidFill>
            <a:srgbClr val="C7D3E2"/>
          </a:solidFill>
          <a:ln/>
        </p:spPr>
      </p:sp>
      <p:sp>
        <p:nvSpPr>
          <p:cNvPr id="11" name="Shape 8"/>
          <p:cNvSpPr/>
          <p:nvPr/>
        </p:nvSpPr>
        <p:spPr>
          <a:xfrm>
            <a:off x="2917485" y="2423160"/>
            <a:ext cx="1984797" cy="3108960"/>
          </a:xfrm>
          <a:prstGeom prst="roundRect">
            <a:avLst>
              <a:gd name="adj" fmla="val 322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2" name="Shape 9"/>
          <p:cNvSpPr/>
          <p:nvPr/>
        </p:nvSpPr>
        <p:spPr>
          <a:xfrm>
            <a:off x="3653851" y="2679192"/>
            <a:ext cx="512064" cy="512064"/>
          </a:xfrm>
          <a:prstGeom prst="ellipse">
            <a:avLst/>
          </a:prstGeom>
          <a:solidFill>
            <a:srgbClr val="E4F3F1"/>
          </a:solidFill>
          <a:ln/>
        </p:spPr>
      </p:sp>
      <p:pic>
        <p:nvPicPr>
          <p:cNvPr id="13" name="Image 1" descr="preencoded.png">    </p:cNvPr>
          <p:cNvPicPr>
            <a:picLocks noChangeAspect="1"/>
          </p:cNvPicPr>
          <p:nvPr/>
        </p:nvPicPr>
        <p:blipFill>
          <a:blip r:embed="rId2"/>
          <a:stretch>
            <a:fillRect/>
          </a:stretch>
        </p:blipFill>
        <p:spPr>
          <a:xfrm>
            <a:off x="3786988" y="2812329"/>
            <a:ext cx="245791" cy="245791"/>
          </a:xfrm>
          <a:prstGeom prst="rect">
            <a:avLst/>
          </a:prstGeom>
        </p:spPr>
      </p:pic>
      <p:sp>
        <p:nvSpPr>
          <p:cNvPr id="14" name="Text 10"/>
          <p:cNvSpPr/>
          <p:nvPr/>
        </p:nvSpPr>
        <p:spPr>
          <a:xfrm>
            <a:off x="3027213" y="3383280"/>
            <a:ext cx="1765341" cy="603504"/>
          </a:xfrm>
          <a:prstGeom prst="rect">
            <a:avLst/>
          </a:prstGeom>
          <a:noFill/>
          <a:ln/>
        </p:spPr>
        <p:txBody>
          <a:bodyPr wrap="square" lIns="0" tIns="0" rIns="0" bIns="0" rtlCol="0" anchor="ctr"/>
          <a:lstStyle/>
          <a:p>
            <a:pPr algn="ctr" indent="0" marL="0">
              <a:buNone/>
            </a:pPr>
            <a:r>
              <a:rPr lang="en-US" sz="1150" b="1" dirty="0">
                <a:solidFill>
                  <a:srgbClr val="1A2333"/>
                </a:solidFill>
                <a:latin typeface="Calibri" pitchFamily="34" charset="0"/>
                <a:ea typeface="Calibri" pitchFamily="34" charset="-122"/>
                <a:cs typeface="Calibri" pitchFamily="34" charset="-120"/>
              </a:rPr>
              <a:t>Nurse acknowledges</a:t>
            </a:r>
            <a:endParaRPr lang="en-US" sz="1150" dirty="0"/>
          </a:p>
        </p:txBody>
      </p:sp>
      <p:sp>
        <p:nvSpPr>
          <p:cNvPr id="15" name="Text 11"/>
          <p:cNvSpPr/>
          <p:nvPr/>
        </p:nvSpPr>
        <p:spPr>
          <a:xfrm>
            <a:off x="3008925" y="3931920"/>
            <a:ext cx="1801917" cy="1463040"/>
          </a:xfrm>
          <a:prstGeom prst="rect">
            <a:avLst/>
          </a:prstGeom>
          <a:noFill/>
          <a:ln/>
        </p:spPr>
        <p:txBody>
          <a:bodyPr wrap="square" lIns="0" tIns="0" rIns="0" bIns="0" rtlCol="0" anchor="t"/>
          <a:lstStyle/>
          <a:p>
            <a:pPr algn="ctr" indent="0" marL="0">
              <a:buNone/>
            </a:pPr>
            <a:r>
              <a:rPr lang="en-US" sz="950" dirty="0">
                <a:solidFill>
                  <a:srgbClr val="5B6B82"/>
                </a:solidFill>
                <a:latin typeface="Calibri" pitchFamily="34" charset="0"/>
                <a:ea typeface="Calibri" pitchFamily="34" charset="-122"/>
                <a:cs typeface="Calibri" pitchFamily="34" charset="-120"/>
              </a:rPr>
              <a:t>Confirms they've seen it — or</a:t>
            </a:r>
            <a:endParaRPr lang="en-US" sz="950" dirty="0"/>
          </a:p>
        </p:txBody>
      </p:sp>
      <p:sp>
        <p:nvSpPr>
          <p:cNvPr id="16" name="Shape 12"/>
          <p:cNvSpPr/>
          <p:nvPr/>
        </p:nvSpPr>
        <p:spPr>
          <a:xfrm>
            <a:off x="4911425" y="3895344"/>
            <a:ext cx="182880" cy="164592"/>
          </a:xfrm>
          <a:prstGeom prst="rightArrow">
            <a:avLst/>
          </a:prstGeom>
          <a:solidFill>
            <a:srgbClr val="C7D3E2"/>
          </a:solidFill>
          <a:ln/>
        </p:spPr>
      </p:sp>
      <p:sp>
        <p:nvSpPr>
          <p:cNvPr id="17" name="Shape 13"/>
          <p:cNvSpPr/>
          <p:nvPr/>
        </p:nvSpPr>
        <p:spPr>
          <a:xfrm>
            <a:off x="5103449" y="2423160"/>
            <a:ext cx="1984797" cy="3108960"/>
          </a:xfrm>
          <a:prstGeom prst="roundRect">
            <a:avLst>
              <a:gd name="adj" fmla="val 322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8" name="Shape 14"/>
          <p:cNvSpPr/>
          <p:nvPr/>
        </p:nvSpPr>
        <p:spPr>
          <a:xfrm>
            <a:off x="5839816" y="2679192"/>
            <a:ext cx="512064" cy="512064"/>
          </a:xfrm>
          <a:prstGeom prst="ellipse">
            <a:avLst/>
          </a:prstGeom>
          <a:solidFill>
            <a:srgbClr val="E4F3F1"/>
          </a:solidFill>
          <a:ln/>
        </p:spPr>
      </p:sp>
      <p:pic>
        <p:nvPicPr>
          <p:cNvPr id="19" name="Image 2" descr="preencoded.png">    </p:cNvPr>
          <p:cNvPicPr>
            <a:picLocks noChangeAspect="1"/>
          </p:cNvPicPr>
          <p:nvPr/>
        </p:nvPicPr>
        <p:blipFill>
          <a:blip r:embed="rId3"/>
          <a:stretch>
            <a:fillRect/>
          </a:stretch>
        </p:blipFill>
        <p:spPr>
          <a:xfrm>
            <a:off x="5972952" y="2812329"/>
            <a:ext cx="245791" cy="245791"/>
          </a:xfrm>
          <a:prstGeom prst="rect">
            <a:avLst/>
          </a:prstGeom>
        </p:spPr>
      </p:pic>
      <p:sp>
        <p:nvSpPr>
          <p:cNvPr id="20" name="Text 15"/>
          <p:cNvSpPr/>
          <p:nvPr/>
        </p:nvSpPr>
        <p:spPr>
          <a:xfrm>
            <a:off x="5213177" y="3383280"/>
            <a:ext cx="1765341" cy="603504"/>
          </a:xfrm>
          <a:prstGeom prst="rect">
            <a:avLst/>
          </a:prstGeom>
          <a:noFill/>
          <a:ln/>
        </p:spPr>
        <p:txBody>
          <a:bodyPr wrap="square" lIns="0" tIns="0" rIns="0" bIns="0" rtlCol="0" anchor="ctr"/>
          <a:lstStyle/>
          <a:p>
            <a:pPr algn="ctr" indent="0" marL="0">
              <a:buNone/>
            </a:pPr>
            <a:r>
              <a:rPr lang="en-US" sz="1150" b="1" dirty="0">
                <a:solidFill>
                  <a:srgbClr val="1A2333"/>
                </a:solidFill>
                <a:latin typeface="Calibri" pitchFamily="34" charset="0"/>
                <a:ea typeface="Calibri" pitchFamily="34" charset="-122"/>
                <a:cs typeface="Calibri" pitchFamily="34" charset="-120"/>
              </a:rPr>
              <a:t>...raises a concern</a:t>
            </a:r>
            <a:endParaRPr lang="en-US" sz="1150" dirty="0"/>
          </a:p>
        </p:txBody>
      </p:sp>
      <p:sp>
        <p:nvSpPr>
          <p:cNvPr id="21" name="Text 16"/>
          <p:cNvSpPr/>
          <p:nvPr/>
        </p:nvSpPr>
        <p:spPr>
          <a:xfrm>
            <a:off x="5194889" y="3931920"/>
            <a:ext cx="1801917" cy="1463040"/>
          </a:xfrm>
          <a:prstGeom prst="rect">
            <a:avLst/>
          </a:prstGeom>
          <a:noFill/>
          <a:ln/>
        </p:spPr>
        <p:txBody>
          <a:bodyPr wrap="square" lIns="0" tIns="0" rIns="0" bIns="0" rtlCol="0" anchor="t"/>
          <a:lstStyle/>
          <a:p>
            <a:pPr algn="ctr" indent="0" marL="0">
              <a:buNone/>
            </a:pPr>
            <a:r>
              <a:rPr lang="en-US" sz="950" dirty="0">
                <a:solidFill>
                  <a:srgbClr val="5B6B82"/>
                </a:solidFill>
                <a:latin typeface="Calibri" pitchFamily="34" charset="0"/>
                <a:ea typeface="Calibri" pitchFamily="34" charset="-122"/>
                <a:cs typeface="Calibri" pitchFamily="34" charset="-120"/>
              </a:rPr>
              <a:t>"The presentation doesn't fit this diagnosis"</a:t>
            </a:r>
            <a:endParaRPr lang="en-US" sz="950" dirty="0"/>
          </a:p>
        </p:txBody>
      </p:sp>
      <p:sp>
        <p:nvSpPr>
          <p:cNvPr id="22" name="Shape 17"/>
          <p:cNvSpPr/>
          <p:nvPr/>
        </p:nvSpPr>
        <p:spPr>
          <a:xfrm>
            <a:off x="7097390" y="3895344"/>
            <a:ext cx="182880" cy="164592"/>
          </a:xfrm>
          <a:prstGeom prst="rightArrow">
            <a:avLst/>
          </a:prstGeom>
          <a:solidFill>
            <a:srgbClr val="C7D3E2"/>
          </a:solidFill>
          <a:ln/>
        </p:spPr>
      </p:sp>
      <p:sp>
        <p:nvSpPr>
          <p:cNvPr id="23" name="Shape 18"/>
          <p:cNvSpPr/>
          <p:nvPr/>
        </p:nvSpPr>
        <p:spPr>
          <a:xfrm>
            <a:off x="7289414" y="2423160"/>
            <a:ext cx="1984797" cy="3108960"/>
          </a:xfrm>
          <a:prstGeom prst="roundRect">
            <a:avLst>
              <a:gd name="adj" fmla="val 322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4" name="Shape 19"/>
          <p:cNvSpPr/>
          <p:nvPr/>
        </p:nvSpPr>
        <p:spPr>
          <a:xfrm>
            <a:off x="8025780" y="2679192"/>
            <a:ext cx="512064" cy="512064"/>
          </a:xfrm>
          <a:prstGeom prst="ellipse">
            <a:avLst/>
          </a:prstGeom>
          <a:solidFill>
            <a:srgbClr val="E4F3F1"/>
          </a:solidFill>
          <a:ln/>
        </p:spPr>
      </p:sp>
      <p:pic>
        <p:nvPicPr>
          <p:cNvPr id="25" name="Image 3" descr="preencoded.png">    </p:cNvPr>
          <p:cNvPicPr>
            <a:picLocks noChangeAspect="1"/>
          </p:cNvPicPr>
          <p:nvPr/>
        </p:nvPicPr>
        <p:blipFill>
          <a:blip r:embed="rId4"/>
          <a:stretch>
            <a:fillRect/>
          </a:stretch>
        </p:blipFill>
        <p:spPr>
          <a:xfrm>
            <a:off x="8158917" y="2812329"/>
            <a:ext cx="245791" cy="245791"/>
          </a:xfrm>
          <a:prstGeom prst="rect">
            <a:avLst/>
          </a:prstGeom>
        </p:spPr>
      </p:pic>
      <p:sp>
        <p:nvSpPr>
          <p:cNvPr id="26" name="Text 20"/>
          <p:cNvSpPr/>
          <p:nvPr/>
        </p:nvSpPr>
        <p:spPr>
          <a:xfrm>
            <a:off x="7399142" y="3383280"/>
            <a:ext cx="1765341" cy="603504"/>
          </a:xfrm>
          <a:prstGeom prst="rect">
            <a:avLst/>
          </a:prstGeom>
          <a:noFill/>
          <a:ln/>
        </p:spPr>
        <p:txBody>
          <a:bodyPr wrap="square" lIns="0" tIns="0" rIns="0" bIns="0" rtlCol="0" anchor="ctr"/>
          <a:lstStyle/>
          <a:p>
            <a:pPr algn="ctr" indent="0" marL="0">
              <a:buNone/>
            </a:pPr>
            <a:r>
              <a:rPr lang="en-US" sz="1150" b="1" dirty="0">
                <a:solidFill>
                  <a:srgbClr val="1A2333"/>
                </a:solidFill>
                <a:latin typeface="Calibri" pitchFamily="34" charset="0"/>
                <a:ea typeface="Calibri" pitchFamily="34" charset="-122"/>
                <a:cs typeface="Calibri" pitchFamily="34" charset="-120"/>
              </a:rPr>
              <a:t>Doctor responds</a:t>
            </a:r>
            <a:endParaRPr lang="en-US" sz="1150" dirty="0"/>
          </a:p>
        </p:txBody>
      </p:sp>
      <p:sp>
        <p:nvSpPr>
          <p:cNvPr id="27" name="Text 21"/>
          <p:cNvSpPr/>
          <p:nvPr/>
        </p:nvSpPr>
        <p:spPr>
          <a:xfrm>
            <a:off x="7380854" y="3931920"/>
            <a:ext cx="1801917" cy="1463040"/>
          </a:xfrm>
          <a:prstGeom prst="rect">
            <a:avLst/>
          </a:prstGeom>
          <a:noFill/>
          <a:ln/>
        </p:spPr>
        <p:txBody>
          <a:bodyPr wrap="square" lIns="0" tIns="0" rIns="0" bIns="0" rtlCol="0" anchor="t"/>
          <a:lstStyle/>
          <a:p>
            <a:pPr algn="ctr" indent="0" marL="0">
              <a:buNone/>
            </a:pPr>
            <a:r>
              <a:rPr lang="en-US" sz="950" dirty="0">
                <a:solidFill>
                  <a:srgbClr val="5B6B82"/>
                </a:solidFill>
                <a:latin typeface="Calibri" pitchFamily="34" charset="0"/>
                <a:ea typeface="Calibri" pitchFamily="34" charset="-122"/>
                <a:cs typeface="Calibri" pitchFamily="34" charset="-120"/>
              </a:rPr>
              <a:t>Concern is addressed or dismissed, with a reason</a:t>
            </a:r>
            <a:endParaRPr lang="en-US" sz="950" dirty="0"/>
          </a:p>
        </p:txBody>
      </p:sp>
      <p:sp>
        <p:nvSpPr>
          <p:cNvPr id="28" name="Shape 22"/>
          <p:cNvSpPr/>
          <p:nvPr/>
        </p:nvSpPr>
        <p:spPr>
          <a:xfrm>
            <a:off x="9283355" y="3895344"/>
            <a:ext cx="182880" cy="164592"/>
          </a:xfrm>
          <a:prstGeom prst="rightArrow">
            <a:avLst/>
          </a:prstGeom>
          <a:solidFill>
            <a:srgbClr val="C7D3E2"/>
          </a:solidFill>
          <a:ln/>
        </p:spPr>
      </p:sp>
      <p:sp>
        <p:nvSpPr>
          <p:cNvPr id="29" name="Shape 23"/>
          <p:cNvSpPr/>
          <p:nvPr/>
        </p:nvSpPr>
        <p:spPr>
          <a:xfrm>
            <a:off x="9475379" y="2423160"/>
            <a:ext cx="1984797" cy="3108960"/>
          </a:xfrm>
          <a:prstGeom prst="roundRect">
            <a:avLst>
              <a:gd name="adj" fmla="val 322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30" name="Shape 24"/>
          <p:cNvSpPr/>
          <p:nvPr/>
        </p:nvSpPr>
        <p:spPr>
          <a:xfrm>
            <a:off x="10211745" y="2679192"/>
            <a:ext cx="512064" cy="512064"/>
          </a:xfrm>
          <a:prstGeom prst="ellipse">
            <a:avLst/>
          </a:prstGeom>
          <a:solidFill>
            <a:srgbClr val="E4F3F1"/>
          </a:solidFill>
          <a:ln/>
        </p:spPr>
      </p:sp>
      <p:pic>
        <p:nvPicPr>
          <p:cNvPr id="31" name="Image 4" descr="preencoded.png">    </p:cNvPr>
          <p:cNvPicPr>
            <a:picLocks noChangeAspect="1"/>
          </p:cNvPicPr>
          <p:nvPr/>
        </p:nvPicPr>
        <p:blipFill>
          <a:blip r:embed="rId5"/>
          <a:stretch>
            <a:fillRect/>
          </a:stretch>
        </p:blipFill>
        <p:spPr>
          <a:xfrm>
            <a:off x="10344882" y="2812329"/>
            <a:ext cx="245791" cy="245791"/>
          </a:xfrm>
          <a:prstGeom prst="rect">
            <a:avLst/>
          </a:prstGeom>
        </p:spPr>
      </p:pic>
      <p:sp>
        <p:nvSpPr>
          <p:cNvPr id="32" name="Text 25"/>
          <p:cNvSpPr/>
          <p:nvPr/>
        </p:nvSpPr>
        <p:spPr>
          <a:xfrm>
            <a:off x="9585107" y="3383280"/>
            <a:ext cx="1765341" cy="603504"/>
          </a:xfrm>
          <a:prstGeom prst="rect">
            <a:avLst/>
          </a:prstGeom>
          <a:noFill/>
          <a:ln/>
        </p:spPr>
        <p:txBody>
          <a:bodyPr wrap="square" lIns="0" tIns="0" rIns="0" bIns="0" rtlCol="0" anchor="ctr"/>
          <a:lstStyle/>
          <a:p>
            <a:pPr algn="ctr" indent="0" marL="0">
              <a:buNone/>
            </a:pPr>
            <a:r>
              <a:rPr lang="en-US" sz="1150" b="1" dirty="0">
                <a:solidFill>
                  <a:srgbClr val="1A2333"/>
                </a:solidFill>
                <a:latin typeface="Calibri" pitchFamily="34" charset="0"/>
                <a:ea typeface="Calibri" pitchFamily="34" charset="-122"/>
                <a:cs typeface="Calibri" pitchFamily="34" charset="-120"/>
              </a:rPr>
              <a:t>Status resolved</a:t>
            </a:r>
            <a:endParaRPr lang="en-US" sz="1150" dirty="0"/>
          </a:p>
        </p:txBody>
      </p:sp>
      <p:sp>
        <p:nvSpPr>
          <p:cNvPr id="33" name="Text 26"/>
          <p:cNvSpPr/>
          <p:nvPr/>
        </p:nvSpPr>
        <p:spPr>
          <a:xfrm>
            <a:off x="9566819" y="3931920"/>
            <a:ext cx="1801917" cy="1463040"/>
          </a:xfrm>
          <a:prstGeom prst="rect">
            <a:avLst/>
          </a:prstGeom>
          <a:noFill/>
          <a:ln/>
        </p:spPr>
        <p:txBody>
          <a:bodyPr wrap="square" lIns="0" tIns="0" rIns="0" bIns="0" rtlCol="0" anchor="t"/>
          <a:lstStyle/>
          <a:p>
            <a:pPr algn="ctr" indent="0" marL="0">
              <a:buNone/>
            </a:pPr>
            <a:r>
              <a:rPr lang="en-US" sz="950" dirty="0">
                <a:solidFill>
                  <a:srgbClr val="5B6B82"/>
                </a:solidFill>
                <a:latin typeface="Calibri" pitchFamily="34" charset="0"/>
                <a:ea typeface="Calibri" pitchFamily="34" charset="-122"/>
                <a:cs typeface="Calibri" pitchFamily="34" charset="-120"/>
              </a:rPr>
              <a:t>CONFIRMED → RULED_OUT / RESOLVED, always with a documented reason</a:t>
            </a:r>
            <a:endParaRPr lang="en-US" sz="950" dirty="0"/>
          </a:p>
        </p:txBody>
      </p:sp>
      <p:sp>
        <p:nvSpPr>
          <p:cNvPr id="34" name="Text 2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TREATMENT &amp; DISCHARGE</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Approval and Discharge Are Deliberately Restricted</a:t>
            </a:r>
            <a:endParaRPr lang="en-US" sz="3000" dirty="0"/>
          </a:p>
        </p:txBody>
      </p:sp>
      <p:sp>
        <p:nvSpPr>
          <p:cNvPr id="4" name="Shape 2"/>
          <p:cNvSpPr/>
          <p:nvPr/>
        </p:nvSpPr>
        <p:spPr>
          <a:xfrm>
            <a:off x="731520" y="1936242"/>
            <a:ext cx="585216" cy="585216"/>
          </a:xfrm>
          <a:prstGeom prst="ellipse">
            <a:avLst/>
          </a:prstGeom>
          <a:solidFill>
            <a:srgbClr val="E4F3F1"/>
          </a:solidFill>
          <a:ln/>
        </p:spPr>
      </p:sp>
      <p:pic>
        <p:nvPicPr>
          <p:cNvPr id="5" name="Image 0" descr="preencoded.png">    </p:cNvPr>
          <p:cNvPicPr>
            <a:picLocks noChangeAspect="1"/>
          </p:cNvPicPr>
          <p:nvPr/>
        </p:nvPicPr>
        <p:blipFill>
          <a:blip r:embed="rId1"/>
          <a:stretch>
            <a:fillRect/>
          </a:stretch>
        </p:blipFill>
        <p:spPr>
          <a:xfrm>
            <a:off x="883676" y="2088398"/>
            <a:ext cx="280904" cy="280904"/>
          </a:xfrm>
          <a:prstGeom prst="rect">
            <a:avLst/>
          </a:prstGeom>
        </p:spPr>
      </p:pic>
      <p:sp>
        <p:nvSpPr>
          <p:cNvPr id="6" name="Text 3"/>
          <p:cNvSpPr/>
          <p:nvPr/>
        </p:nvSpPr>
        <p:spPr>
          <a:xfrm>
            <a:off x="1600200" y="170992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Doctor requests a treatment approval</a:t>
            </a:r>
            <a:endParaRPr lang="en-US" sz="1500" dirty="0"/>
          </a:p>
        </p:txBody>
      </p:sp>
      <p:sp>
        <p:nvSpPr>
          <p:cNvPr id="7" name="Text 4"/>
          <p:cNvSpPr/>
          <p:nvPr/>
        </p:nvSpPr>
        <p:spPr>
          <a:xfrm>
            <a:off x="1600200" y="205740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Any significant treatment change is logged as a formal request, not just applied silently</a:t>
            </a:r>
            <a:endParaRPr lang="en-US" sz="1250" dirty="0"/>
          </a:p>
        </p:txBody>
      </p:sp>
      <p:sp>
        <p:nvSpPr>
          <p:cNvPr id="8" name="Shape 5"/>
          <p:cNvSpPr/>
          <p:nvPr/>
        </p:nvSpPr>
        <p:spPr>
          <a:xfrm>
            <a:off x="731520" y="3010662"/>
            <a:ext cx="585216" cy="585216"/>
          </a:xfrm>
          <a:prstGeom prst="ellipse">
            <a:avLst/>
          </a:prstGeom>
          <a:solidFill>
            <a:srgbClr val="E4F3F1"/>
          </a:solidFill>
          <a:ln/>
        </p:spPr>
      </p:sp>
      <p:pic>
        <p:nvPicPr>
          <p:cNvPr id="9" name="Image 1" descr="preencoded.png">    </p:cNvPr>
          <p:cNvPicPr>
            <a:picLocks noChangeAspect="1"/>
          </p:cNvPicPr>
          <p:nvPr/>
        </p:nvPicPr>
        <p:blipFill>
          <a:blip r:embed="rId2"/>
          <a:stretch>
            <a:fillRect/>
          </a:stretch>
        </p:blipFill>
        <p:spPr>
          <a:xfrm>
            <a:off x="883676" y="3162818"/>
            <a:ext cx="280904" cy="280904"/>
          </a:xfrm>
          <a:prstGeom prst="rect">
            <a:avLst/>
          </a:prstGeom>
        </p:spPr>
      </p:pic>
      <p:sp>
        <p:nvSpPr>
          <p:cNvPr id="10" name="Text 6"/>
          <p:cNvSpPr/>
          <p:nvPr/>
        </p:nvSpPr>
        <p:spPr>
          <a:xfrm>
            <a:off x="1600200" y="278434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Only a Specialist approves or rejects</a:t>
            </a:r>
            <a:endParaRPr lang="en-US" sz="1500" dirty="0"/>
          </a:p>
        </p:txBody>
      </p:sp>
      <p:sp>
        <p:nvSpPr>
          <p:cNvPr id="11" name="Text 7"/>
          <p:cNvSpPr/>
          <p:nvPr/>
        </p:nvSpPr>
        <p:spPr>
          <a:xfrm>
            <a:off x="1600200" y="313182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Residents can request; only the attending Specialist can authorize — matching real clinical hierarchy</a:t>
            </a:r>
            <a:endParaRPr lang="en-US" sz="1250" dirty="0"/>
          </a:p>
        </p:txBody>
      </p:sp>
      <p:sp>
        <p:nvSpPr>
          <p:cNvPr id="12" name="Shape 8"/>
          <p:cNvSpPr/>
          <p:nvPr/>
        </p:nvSpPr>
        <p:spPr>
          <a:xfrm>
            <a:off x="731520" y="4085082"/>
            <a:ext cx="585216" cy="585216"/>
          </a:xfrm>
          <a:prstGeom prst="ellipse">
            <a:avLst/>
          </a:prstGeom>
          <a:solidFill>
            <a:srgbClr val="E4F3F1"/>
          </a:solidFill>
          <a:ln/>
        </p:spPr>
      </p:sp>
      <p:pic>
        <p:nvPicPr>
          <p:cNvPr id="13" name="Image 2" descr="preencoded.png">    </p:cNvPr>
          <p:cNvPicPr>
            <a:picLocks noChangeAspect="1"/>
          </p:cNvPicPr>
          <p:nvPr/>
        </p:nvPicPr>
        <p:blipFill>
          <a:blip r:embed="rId3"/>
          <a:stretch>
            <a:fillRect/>
          </a:stretch>
        </p:blipFill>
        <p:spPr>
          <a:xfrm>
            <a:off x="883676" y="4237238"/>
            <a:ext cx="280904" cy="280904"/>
          </a:xfrm>
          <a:prstGeom prst="rect">
            <a:avLst/>
          </a:prstGeom>
        </p:spPr>
      </p:pic>
      <p:sp>
        <p:nvSpPr>
          <p:cNvPr id="14" name="Text 9"/>
          <p:cNvSpPr/>
          <p:nvPr/>
        </p:nvSpPr>
        <p:spPr>
          <a:xfrm>
            <a:off x="1600200" y="385876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Nurse records bedside execution</a:t>
            </a:r>
            <a:endParaRPr lang="en-US" sz="1500" dirty="0"/>
          </a:p>
        </p:txBody>
      </p:sp>
      <p:sp>
        <p:nvSpPr>
          <p:cNvPr id="15" name="Text 10"/>
          <p:cNvSpPr/>
          <p:nvPr/>
        </p:nvSpPr>
        <p:spPr>
          <a:xfrm>
            <a:off x="1600200" y="420624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Once approved, the nurse logs that the treatment was actually carried out</a:t>
            </a:r>
            <a:endParaRPr lang="en-US" sz="1250" dirty="0"/>
          </a:p>
        </p:txBody>
      </p:sp>
      <p:sp>
        <p:nvSpPr>
          <p:cNvPr id="16" name="Shape 11"/>
          <p:cNvSpPr/>
          <p:nvPr/>
        </p:nvSpPr>
        <p:spPr>
          <a:xfrm>
            <a:off x="731520" y="5159502"/>
            <a:ext cx="585216" cy="585216"/>
          </a:xfrm>
          <a:prstGeom prst="ellipse">
            <a:avLst/>
          </a:prstGeom>
          <a:solidFill>
            <a:srgbClr val="E4F3F1"/>
          </a:solidFill>
          <a:ln/>
        </p:spPr>
      </p:sp>
      <p:pic>
        <p:nvPicPr>
          <p:cNvPr id="17" name="Image 3" descr="preencoded.png">    </p:cNvPr>
          <p:cNvPicPr>
            <a:picLocks noChangeAspect="1"/>
          </p:cNvPicPr>
          <p:nvPr/>
        </p:nvPicPr>
        <p:blipFill>
          <a:blip r:embed="rId4"/>
          <a:stretch>
            <a:fillRect/>
          </a:stretch>
        </p:blipFill>
        <p:spPr>
          <a:xfrm>
            <a:off x="883676" y="5311658"/>
            <a:ext cx="280904" cy="280904"/>
          </a:xfrm>
          <a:prstGeom prst="rect">
            <a:avLst/>
          </a:prstGeom>
        </p:spPr>
      </p:pic>
      <p:sp>
        <p:nvSpPr>
          <p:cNvPr id="18" name="Text 12"/>
          <p:cNvSpPr/>
          <p:nvPr/>
        </p:nvSpPr>
        <p:spPr>
          <a:xfrm>
            <a:off x="1600200" y="493318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Specialist discharges the patient</a:t>
            </a:r>
            <a:endParaRPr lang="en-US" sz="1500" dirty="0"/>
          </a:p>
        </p:txBody>
      </p:sp>
      <p:sp>
        <p:nvSpPr>
          <p:cNvPr id="19" name="Text 13"/>
          <p:cNvSpPr/>
          <p:nvPr/>
        </p:nvSpPr>
        <p:spPr>
          <a:xfrm>
            <a:off x="1600200" y="528066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The single role-restricted action that frees the bed and closes the admission</a:t>
            </a:r>
            <a:endParaRPr lang="en-US" sz="1250" dirty="0"/>
          </a:p>
        </p:txBody>
      </p:sp>
      <p:sp>
        <p:nvSpPr>
          <p:cNvPr id="20" name="Text 14"/>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22960" y="1371600"/>
            <a:ext cx="3657600" cy="1828800"/>
          </a:xfrm>
          <a:prstGeom prst="rect">
            <a:avLst/>
          </a:prstGeom>
          <a:noFill/>
          <a:ln/>
        </p:spPr>
        <p:txBody>
          <a:bodyPr wrap="square" lIns="0" tIns="0" rIns="0" bIns="0" rtlCol="0" anchor="ctr"/>
          <a:lstStyle/>
          <a:p>
            <a:pPr indent="0" marL="0">
              <a:buNone/>
            </a:pPr>
            <a:r>
              <a:rPr lang="en-US" sz="13000" b="1" dirty="0">
                <a:solidFill>
                  <a:srgbClr val="173257"/>
                </a:solidFill>
                <a:latin typeface="Cambria" pitchFamily="34" charset="0"/>
                <a:ea typeface="Cambria" pitchFamily="34" charset="-122"/>
                <a:cs typeface="Cambria" pitchFamily="34" charset="-120"/>
              </a:rPr>
              <a:t>04</a:t>
            </a:r>
            <a:endParaRPr lang="en-US" sz="13000" dirty="0"/>
          </a:p>
        </p:txBody>
      </p:sp>
      <p:sp>
        <p:nvSpPr>
          <p:cNvPr id="3" name="Shape 1"/>
          <p:cNvSpPr/>
          <p:nvPr/>
        </p:nvSpPr>
        <p:spPr>
          <a:xfrm>
            <a:off x="868680" y="3063240"/>
            <a:ext cx="914400" cy="914400"/>
          </a:xfrm>
          <a:prstGeom prst="ellipse">
            <a:avLst/>
          </a:prstGeom>
          <a:solidFill>
            <a:srgbClr val="13877F"/>
          </a:solidFill>
          <a:ln/>
        </p:spPr>
      </p:sp>
      <p:pic>
        <p:nvPicPr>
          <p:cNvPr id="4" name="Image 0" descr="preencoded.png">    </p:cNvPr>
          <p:cNvPicPr>
            <a:picLocks noChangeAspect="1"/>
          </p:cNvPicPr>
          <p:nvPr/>
        </p:nvPicPr>
        <p:blipFill>
          <a:blip r:embed="rId1"/>
          <a:stretch>
            <a:fillRect/>
          </a:stretch>
        </p:blipFill>
        <p:spPr>
          <a:xfrm>
            <a:off x="1106424" y="3300984"/>
            <a:ext cx="438912" cy="438912"/>
          </a:xfrm>
          <a:prstGeom prst="rect">
            <a:avLst/>
          </a:prstGeom>
        </p:spPr>
      </p:pic>
      <p:sp>
        <p:nvSpPr>
          <p:cNvPr id="5" name="Text 2"/>
          <p:cNvSpPr/>
          <p:nvPr/>
        </p:nvSpPr>
        <p:spPr>
          <a:xfrm>
            <a:off x="2011680" y="3017520"/>
            <a:ext cx="89611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 &amp; Intelligence</a:t>
            </a:r>
            <a:endParaRPr lang="en-US" sz="3800" dirty="0"/>
          </a:p>
        </p:txBody>
      </p:sp>
      <p:sp>
        <p:nvSpPr>
          <p:cNvPr id="6" name="Text 3"/>
          <p:cNvSpPr/>
          <p:nvPr/>
        </p:nvSpPr>
        <p:spPr>
          <a:xfrm>
            <a:off x="2029968" y="3794760"/>
            <a:ext cx="8686800" cy="457200"/>
          </a:xfrm>
          <a:prstGeom prst="rect">
            <a:avLst/>
          </a:prstGeom>
          <a:noFill/>
          <a:ln/>
        </p:spPr>
        <p:txBody>
          <a:bodyPr wrap="square" lIns="0" tIns="0" rIns="0" bIns="0" rtlCol="0" anchor="ctr"/>
          <a:lstStyle/>
          <a:p>
            <a:pPr indent="0" marL="0">
              <a:buNone/>
            </a:pPr>
            <a:r>
              <a:rPr lang="en-US" sz="1600" dirty="0">
                <a:solidFill>
                  <a:srgbClr val="AFC3E0"/>
                </a:solidFill>
                <a:latin typeface="Calibri" pitchFamily="34" charset="0"/>
                <a:ea typeface="Calibri" pitchFamily="34" charset="-122"/>
                <a:cs typeface="Calibri" pitchFamily="34" charset="-120"/>
              </a:rPr>
              <a:t>Reducing cognitive load, not just storing data</a:t>
            </a:r>
            <a:endParaRPr lang="en-US" sz="1600" dirty="0"/>
          </a:p>
        </p:txBody>
      </p:sp>
      <p:sp>
        <p:nvSpPr>
          <p:cNvPr id="7" name="Shape 4"/>
          <p:cNvSpPr/>
          <p:nvPr/>
        </p:nvSpPr>
        <p:spPr>
          <a:xfrm>
            <a:off x="2029968" y="4480560"/>
            <a:ext cx="2743200" cy="502920"/>
          </a:xfrm>
          <a:prstGeom prst="roundRect">
            <a:avLst>
              <a:gd name="adj" fmla="val 14545"/>
            </a:avLst>
          </a:prstGeom>
          <a:solidFill>
            <a:srgbClr val="081B33"/>
          </a:solidFill>
          <a:ln w="12700">
            <a:solidFill>
              <a:srgbClr val="13877F"/>
            </a:solidFill>
            <a:prstDash val="solid"/>
          </a:ln>
        </p:spPr>
      </p:sp>
      <p:sp>
        <p:nvSpPr>
          <p:cNvPr id="8" name="Text 5"/>
          <p:cNvSpPr/>
          <p:nvPr/>
        </p:nvSpPr>
        <p:spPr>
          <a:xfrm>
            <a:off x="2029968" y="4480560"/>
            <a:ext cx="2743200" cy="502920"/>
          </a:xfrm>
          <a:prstGeom prst="rect">
            <a:avLst/>
          </a:prstGeom>
          <a:noFill/>
          <a:ln/>
        </p:spPr>
        <p:txBody>
          <a:bodyPr wrap="square" lIns="0" tIns="0" rIns="0" bIns="0" rtlCol="0" anchor="ctr"/>
          <a:lstStyle/>
          <a:p>
            <a:pPr algn="ctr" indent="0" marL="0">
              <a:buNone/>
            </a:pPr>
            <a:r>
              <a:rPr lang="en-US" sz="1050" b="1" dirty="0">
                <a:solidFill>
                  <a:srgbClr val="13877F"/>
                </a:solidFill>
                <a:latin typeface="Calibri" pitchFamily="34" charset="0"/>
                <a:ea typeface="Calibri" pitchFamily="34" charset="-122"/>
                <a:cs typeface="Calibri" pitchFamily="34" charset="-120"/>
              </a:rPr>
              <a:t>PRESENTED BY  TEAM MEMBER 4</a:t>
            </a:r>
            <a:endParaRPr lang="en-US" sz="10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C7089"/>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AI ARCHITECTURE</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Retrieval-Augmented, Not Just a Chatbot</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The model never answers from memory alone — it retrieves this specific patient's data first.</a:t>
            </a:r>
            <a:endParaRPr lang="en-US" sz="1350" dirty="0"/>
          </a:p>
        </p:txBody>
      </p:sp>
      <p:sp>
        <p:nvSpPr>
          <p:cNvPr id="5" name="Shape 3"/>
          <p:cNvSpPr/>
          <p:nvPr/>
        </p:nvSpPr>
        <p:spPr>
          <a:xfrm>
            <a:off x="731520" y="2377440"/>
            <a:ext cx="2476424" cy="3200400"/>
          </a:xfrm>
          <a:prstGeom prst="roundRect">
            <a:avLst>
              <a:gd name="adj" fmla="val 258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6" name="Shape 4"/>
          <p:cNvSpPr/>
          <p:nvPr/>
        </p:nvSpPr>
        <p:spPr>
          <a:xfrm>
            <a:off x="1695412" y="2651760"/>
            <a:ext cx="548640" cy="548640"/>
          </a:xfrm>
          <a:prstGeom prst="ellipse">
            <a:avLst/>
          </a:prstGeom>
          <a:solidFill>
            <a:srgbClr val="E4F3F1"/>
          </a:solidFill>
          <a:ln/>
        </p:spPr>
      </p:sp>
      <p:pic>
        <p:nvPicPr>
          <p:cNvPr id="7" name="Image 0" descr="preencoded.png">    </p:cNvPr>
          <p:cNvPicPr>
            <a:picLocks noChangeAspect="1"/>
          </p:cNvPicPr>
          <p:nvPr/>
        </p:nvPicPr>
        <p:blipFill>
          <a:blip r:embed="rId1"/>
          <a:stretch>
            <a:fillRect/>
          </a:stretch>
        </p:blipFill>
        <p:spPr>
          <a:xfrm>
            <a:off x="1838058" y="2794406"/>
            <a:ext cx="263347" cy="263347"/>
          </a:xfrm>
          <a:prstGeom prst="rect">
            <a:avLst/>
          </a:prstGeom>
        </p:spPr>
      </p:pic>
      <p:sp>
        <p:nvSpPr>
          <p:cNvPr id="8" name="Text 5"/>
          <p:cNvSpPr/>
          <p:nvPr/>
        </p:nvSpPr>
        <p:spPr>
          <a:xfrm>
            <a:off x="868680" y="3429000"/>
            <a:ext cx="2202104" cy="603504"/>
          </a:xfrm>
          <a:prstGeom prst="rect">
            <a:avLst/>
          </a:prstGeom>
          <a:noFill/>
          <a:ln/>
        </p:spPr>
        <p:txBody>
          <a:bodyPr wrap="square" lIns="0" tIns="0" rIns="0" bIns="0" rtlCol="0" anchor="ctr"/>
          <a:lstStyle/>
          <a:p>
            <a:pPr algn="ctr" indent="0" marL="0">
              <a:buNone/>
            </a:pPr>
            <a:r>
              <a:rPr lang="en-US" sz="1200" b="1" dirty="0">
                <a:solidFill>
                  <a:srgbClr val="1A2333"/>
                </a:solidFill>
                <a:latin typeface="Calibri" pitchFamily="34" charset="0"/>
                <a:ea typeface="Calibri" pitchFamily="34" charset="-122"/>
                <a:cs typeface="Calibri" pitchFamily="34" charset="-120"/>
              </a:rPr>
              <a:t>Structured + Unstructured Data</a:t>
            </a:r>
            <a:endParaRPr lang="en-US" sz="1200" dirty="0"/>
          </a:p>
        </p:txBody>
      </p:sp>
      <p:sp>
        <p:nvSpPr>
          <p:cNvPr id="9" name="Text 6"/>
          <p:cNvSpPr/>
          <p:nvPr/>
        </p:nvSpPr>
        <p:spPr>
          <a:xfrm>
            <a:off x="868680" y="4023360"/>
            <a:ext cx="2202104" cy="14173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Vitals, labs, notes, exams, and uploaded documents</a:t>
            </a:r>
            <a:endParaRPr lang="en-US" sz="1000" dirty="0"/>
          </a:p>
        </p:txBody>
      </p:sp>
      <p:sp>
        <p:nvSpPr>
          <p:cNvPr id="10" name="Shape 7"/>
          <p:cNvSpPr/>
          <p:nvPr/>
        </p:nvSpPr>
        <p:spPr>
          <a:xfrm>
            <a:off x="3226232" y="3886200"/>
            <a:ext cx="237744" cy="182880"/>
          </a:xfrm>
          <a:prstGeom prst="rightArrow">
            <a:avLst/>
          </a:prstGeom>
          <a:solidFill>
            <a:srgbClr val="C7D3E2"/>
          </a:solidFill>
          <a:ln/>
        </p:spPr>
      </p:sp>
      <p:sp>
        <p:nvSpPr>
          <p:cNvPr id="11" name="Shape 8"/>
          <p:cNvSpPr/>
          <p:nvPr/>
        </p:nvSpPr>
        <p:spPr>
          <a:xfrm>
            <a:off x="3482264" y="2377440"/>
            <a:ext cx="2476424" cy="3200400"/>
          </a:xfrm>
          <a:prstGeom prst="roundRect">
            <a:avLst>
              <a:gd name="adj" fmla="val 258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2" name="Shape 9"/>
          <p:cNvSpPr/>
          <p:nvPr/>
        </p:nvSpPr>
        <p:spPr>
          <a:xfrm>
            <a:off x="4446156" y="2651760"/>
            <a:ext cx="548640" cy="548640"/>
          </a:xfrm>
          <a:prstGeom prst="ellipse">
            <a:avLst/>
          </a:prstGeom>
          <a:solidFill>
            <a:srgbClr val="E4F3F1"/>
          </a:solidFill>
          <a:ln/>
        </p:spPr>
      </p:sp>
      <p:pic>
        <p:nvPicPr>
          <p:cNvPr id="13" name="Image 1" descr="preencoded.png">    </p:cNvPr>
          <p:cNvPicPr>
            <a:picLocks noChangeAspect="1"/>
          </p:cNvPicPr>
          <p:nvPr/>
        </p:nvPicPr>
        <p:blipFill>
          <a:blip r:embed="rId2"/>
          <a:stretch>
            <a:fillRect/>
          </a:stretch>
        </p:blipFill>
        <p:spPr>
          <a:xfrm>
            <a:off x="4588802" y="2794406"/>
            <a:ext cx="263347" cy="263347"/>
          </a:xfrm>
          <a:prstGeom prst="rect">
            <a:avLst/>
          </a:prstGeom>
        </p:spPr>
      </p:pic>
      <p:sp>
        <p:nvSpPr>
          <p:cNvPr id="14" name="Text 10"/>
          <p:cNvSpPr/>
          <p:nvPr/>
        </p:nvSpPr>
        <p:spPr>
          <a:xfrm>
            <a:off x="3619424" y="3429000"/>
            <a:ext cx="2202104" cy="603504"/>
          </a:xfrm>
          <a:prstGeom prst="rect">
            <a:avLst/>
          </a:prstGeom>
          <a:noFill/>
          <a:ln/>
        </p:spPr>
        <p:txBody>
          <a:bodyPr wrap="square" lIns="0" tIns="0" rIns="0" bIns="0" rtlCol="0" anchor="ctr"/>
          <a:lstStyle/>
          <a:p>
            <a:pPr algn="ctr" indent="0" marL="0">
              <a:buNone/>
            </a:pPr>
            <a:r>
              <a:rPr lang="en-US" sz="1200" b="1" dirty="0">
                <a:solidFill>
                  <a:srgbClr val="1A2333"/>
                </a:solidFill>
                <a:latin typeface="Calibri" pitchFamily="34" charset="0"/>
                <a:ea typeface="Calibri" pitchFamily="34" charset="-122"/>
                <a:cs typeface="Calibri" pitchFamily="34" charset="-120"/>
              </a:rPr>
              <a:t>pgvector Similarity Search</a:t>
            </a:r>
            <a:endParaRPr lang="en-US" sz="1200" dirty="0"/>
          </a:p>
        </p:txBody>
      </p:sp>
      <p:sp>
        <p:nvSpPr>
          <p:cNvPr id="15" name="Text 11"/>
          <p:cNvSpPr/>
          <p:nvPr/>
        </p:nvSpPr>
        <p:spPr>
          <a:xfrm>
            <a:off x="3619424" y="4023360"/>
            <a:ext cx="2202104" cy="14173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Relevant chunks retrieved for this admission only — never across other patients</a:t>
            </a:r>
            <a:endParaRPr lang="en-US" sz="1000" dirty="0"/>
          </a:p>
        </p:txBody>
      </p:sp>
      <p:sp>
        <p:nvSpPr>
          <p:cNvPr id="16" name="Shape 12"/>
          <p:cNvSpPr/>
          <p:nvPr/>
        </p:nvSpPr>
        <p:spPr>
          <a:xfrm>
            <a:off x="5976976" y="3886200"/>
            <a:ext cx="237744" cy="182880"/>
          </a:xfrm>
          <a:prstGeom prst="rightArrow">
            <a:avLst/>
          </a:prstGeom>
          <a:solidFill>
            <a:srgbClr val="C7D3E2"/>
          </a:solidFill>
          <a:ln/>
        </p:spPr>
      </p:sp>
      <p:sp>
        <p:nvSpPr>
          <p:cNvPr id="17" name="Shape 13"/>
          <p:cNvSpPr/>
          <p:nvPr/>
        </p:nvSpPr>
        <p:spPr>
          <a:xfrm>
            <a:off x="6233008" y="2377440"/>
            <a:ext cx="2476424" cy="3200400"/>
          </a:xfrm>
          <a:prstGeom prst="roundRect">
            <a:avLst>
              <a:gd name="adj" fmla="val 258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8" name="Shape 14"/>
          <p:cNvSpPr/>
          <p:nvPr/>
        </p:nvSpPr>
        <p:spPr>
          <a:xfrm>
            <a:off x="7196900" y="2651760"/>
            <a:ext cx="548640" cy="548640"/>
          </a:xfrm>
          <a:prstGeom prst="ellipse">
            <a:avLst/>
          </a:prstGeom>
          <a:solidFill>
            <a:srgbClr val="E4F3F1"/>
          </a:solidFill>
          <a:ln/>
        </p:spPr>
      </p:sp>
      <p:pic>
        <p:nvPicPr>
          <p:cNvPr id="19" name="Image 2" descr="preencoded.png">    </p:cNvPr>
          <p:cNvPicPr>
            <a:picLocks noChangeAspect="1"/>
          </p:cNvPicPr>
          <p:nvPr/>
        </p:nvPicPr>
        <p:blipFill>
          <a:blip r:embed="rId3"/>
          <a:stretch>
            <a:fillRect/>
          </a:stretch>
        </p:blipFill>
        <p:spPr>
          <a:xfrm>
            <a:off x="7339546" y="2794406"/>
            <a:ext cx="263347" cy="263347"/>
          </a:xfrm>
          <a:prstGeom prst="rect">
            <a:avLst/>
          </a:prstGeom>
        </p:spPr>
      </p:pic>
      <p:sp>
        <p:nvSpPr>
          <p:cNvPr id="20" name="Text 15"/>
          <p:cNvSpPr/>
          <p:nvPr/>
        </p:nvSpPr>
        <p:spPr>
          <a:xfrm>
            <a:off x="6370168" y="3429000"/>
            <a:ext cx="2202104" cy="603504"/>
          </a:xfrm>
          <a:prstGeom prst="rect">
            <a:avLst/>
          </a:prstGeom>
          <a:noFill/>
          <a:ln/>
        </p:spPr>
        <p:txBody>
          <a:bodyPr wrap="square" lIns="0" tIns="0" rIns="0" bIns="0" rtlCol="0" anchor="ctr"/>
          <a:lstStyle/>
          <a:p>
            <a:pPr algn="ctr" indent="0" marL="0">
              <a:buNone/>
            </a:pPr>
            <a:r>
              <a:rPr lang="en-US" sz="1200" b="1" dirty="0">
                <a:solidFill>
                  <a:srgbClr val="1A2333"/>
                </a:solidFill>
                <a:latin typeface="Calibri" pitchFamily="34" charset="0"/>
                <a:ea typeface="Calibri" pitchFamily="34" charset="-122"/>
                <a:cs typeface="Calibri" pitchFamily="34" charset="-120"/>
              </a:rPr>
              <a:t>Bedrock LLM (Llama 3.3 70B)</a:t>
            </a:r>
            <a:endParaRPr lang="en-US" sz="1200" dirty="0"/>
          </a:p>
        </p:txBody>
      </p:sp>
      <p:sp>
        <p:nvSpPr>
          <p:cNvPr id="21" name="Text 16"/>
          <p:cNvSpPr/>
          <p:nvPr/>
        </p:nvSpPr>
        <p:spPr>
          <a:xfrm>
            <a:off x="6370168" y="4023360"/>
            <a:ext cx="2202104" cy="14173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Retrieved context + the question sent to the model via the ITI proxy</a:t>
            </a:r>
            <a:endParaRPr lang="en-US" sz="1000" dirty="0"/>
          </a:p>
        </p:txBody>
      </p:sp>
      <p:sp>
        <p:nvSpPr>
          <p:cNvPr id="22" name="Shape 17"/>
          <p:cNvSpPr/>
          <p:nvPr/>
        </p:nvSpPr>
        <p:spPr>
          <a:xfrm>
            <a:off x="8727719" y="3886200"/>
            <a:ext cx="237744" cy="182880"/>
          </a:xfrm>
          <a:prstGeom prst="rightArrow">
            <a:avLst/>
          </a:prstGeom>
          <a:solidFill>
            <a:srgbClr val="C7D3E2"/>
          </a:solidFill>
          <a:ln/>
        </p:spPr>
      </p:sp>
      <p:sp>
        <p:nvSpPr>
          <p:cNvPr id="23" name="Shape 18"/>
          <p:cNvSpPr/>
          <p:nvPr/>
        </p:nvSpPr>
        <p:spPr>
          <a:xfrm>
            <a:off x="8983751" y="2377440"/>
            <a:ext cx="2476424" cy="3200400"/>
          </a:xfrm>
          <a:prstGeom prst="roundRect">
            <a:avLst>
              <a:gd name="adj" fmla="val 2585"/>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4" name="Shape 19"/>
          <p:cNvSpPr/>
          <p:nvPr/>
        </p:nvSpPr>
        <p:spPr>
          <a:xfrm>
            <a:off x="9947643" y="2651760"/>
            <a:ext cx="548640" cy="548640"/>
          </a:xfrm>
          <a:prstGeom prst="ellipse">
            <a:avLst/>
          </a:prstGeom>
          <a:solidFill>
            <a:srgbClr val="E4F3F1"/>
          </a:solidFill>
          <a:ln/>
        </p:spPr>
      </p:sp>
      <p:pic>
        <p:nvPicPr>
          <p:cNvPr id="25" name="Image 3" descr="preencoded.png">    </p:cNvPr>
          <p:cNvPicPr>
            <a:picLocks noChangeAspect="1"/>
          </p:cNvPicPr>
          <p:nvPr/>
        </p:nvPicPr>
        <p:blipFill>
          <a:blip r:embed="rId4"/>
          <a:stretch>
            <a:fillRect/>
          </a:stretch>
        </p:blipFill>
        <p:spPr>
          <a:xfrm>
            <a:off x="10090290" y="2794406"/>
            <a:ext cx="263347" cy="263347"/>
          </a:xfrm>
          <a:prstGeom prst="rect">
            <a:avLst/>
          </a:prstGeom>
        </p:spPr>
      </p:pic>
      <p:sp>
        <p:nvSpPr>
          <p:cNvPr id="26" name="Text 20"/>
          <p:cNvSpPr/>
          <p:nvPr/>
        </p:nvSpPr>
        <p:spPr>
          <a:xfrm>
            <a:off x="9120911" y="3429000"/>
            <a:ext cx="2202104" cy="603504"/>
          </a:xfrm>
          <a:prstGeom prst="rect">
            <a:avLst/>
          </a:prstGeom>
          <a:noFill/>
          <a:ln/>
        </p:spPr>
        <p:txBody>
          <a:bodyPr wrap="square" lIns="0" tIns="0" rIns="0" bIns="0" rtlCol="0" anchor="ctr"/>
          <a:lstStyle/>
          <a:p>
            <a:pPr algn="ctr" indent="0" marL="0">
              <a:buNone/>
            </a:pPr>
            <a:r>
              <a:rPr lang="en-US" sz="1200" b="1" dirty="0">
                <a:solidFill>
                  <a:srgbClr val="1A2333"/>
                </a:solidFill>
                <a:latin typeface="Calibri" pitchFamily="34" charset="0"/>
                <a:ea typeface="Calibri" pitchFamily="34" charset="-122"/>
                <a:cs typeface="Calibri" pitchFamily="34" charset="-120"/>
              </a:rPr>
              <a:t>Cited Answer</a:t>
            </a:r>
            <a:endParaRPr lang="en-US" sz="1200" dirty="0"/>
          </a:p>
        </p:txBody>
      </p:sp>
      <p:sp>
        <p:nvSpPr>
          <p:cNvPr id="27" name="Text 21"/>
          <p:cNvSpPr/>
          <p:nvPr/>
        </p:nvSpPr>
        <p:spPr>
          <a:xfrm>
            <a:off x="9120911" y="4023360"/>
            <a:ext cx="2202104" cy="14173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Response returned with exact source timestamps, e.g. "[Vitals log, 04:15 AM]"</a:t>
            </a:r>
            <a:endParaRPr lang="en-US" sz="1000" dirty="0"/>
          </a:p>
        </p:txBody>
      </p:sp>
      <p:sp>
        <p:nvSpPr>
          <p:cNvPr id="28" name="Text 2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AI SUMMARIZATION</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One Click, Four Clinical Categories</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A synthesized summary of the last 24 hours, organized the way a clinician already thinks about a patient.</a:t>
            </a:r>
            <a:endParaRPr lang="en-US" sz="1350" dirty="0"/>
          </a:p>
        </p:txBody>
      </p:sp>
      <p:sp>
        <p:nvSpPr>
          <p:cNvPr id="5" name="Shape 3"/>
          <p:cNvSpPr/>
          <p:nvPr/>
        </p:nvSpPr>
        <p:spPr>
          <a:xfrm>
            <a:off x="731520" y="2176272"/>
            <a:ext cx="585216" cy="585216"/>
          </a:xfrm>
          <a:prstGeom prst="ellipse">
            <a:avLst/>
          </a:prstGeom>
          <a:solidFill>
            <a:srgbClr val="E4F3F1"/>
          </a:solidFill>
          <a:ln/>
        </p:spPr>
      </p:sp>
      <p:pic>
        <p:nvPicPr>
          <p:cNvPr id="6" name="Image 0" descr="preencoded.png">    </p:cNvPr>
          <p:cNvPicPr>
            <a:picLocks noChangeAspect="1"/>
          </p:cNvPicPr>
          <p:nvPr/>
        </p:nvPicPr>
        <p:blipFill>
          <a:blip r:embed="rId1"/>
          <a:stretch>
            <a:fillRect/>
          </a:stretch>
        </p:blipFill>
        <p:spPr>
          <a:xfrm>
            <a:off x="883676" y="2328428"/>
            <a:ext cx="280904" cy="280904"/>
          </a:xfrm>
          <a:prstGeom prst="rect">
            <a:avLst/>
          </a:prstGeom>
        </p:spPr>
      </p:pic>
      <p:sp>
        <p:nvSpPr>
          <p:cNvPr id="7" name="Text 4"/>
          <p:cNvSpPr/>
          <p:nvPr/>
        </p:nvSpPr>
        <p:spPr>
          <a:xfrm>
            <a:off x="1600200" y="198424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Hemodynamic</a:t>
            </a:r>
            <a:endParaRPr lang="en-US" sz="1500" dirty="0"/>
          </a:p>
        </p:txBody>
      </p:sp>
      <p:sp>
        <p:nvSpPr>
          <p:cNvPr id="8" name="Text 5"/>
          <p:cNvSpPr/>
          <p:nvPr/>
        </p:nvSpPr>
        <p:spPr>
          <a:xfrm>
            <a:off x="1600200" y="233172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Blood pressure, pulse, and perfusion trends</a:t>
            </a:r>
            <a:endParaRPr lang="en-US" sz="1250" dirty="0"/>
          </a:p>
        </p:txBody>
      </p:sp>
      <p:sp>
        <p:nvSpPr>
          <p:cNvPr id="9" name="Shape 6"/>
          <p:cNvSpPr/>
          <p:nvPr/>
        </p:nvSpPr>
        <p:spPr>
          <a:xfrm>
            <a:off x="731520" y="3182112"/>
            <a:ext cx="585216" cy="585216"/>
          </a:xfrm>
          <a:prstGeom prst="ellipse">
            <a:avLst/>
          </a:prstGeom>
          <a:solidFill>
            <a:srgbClr val="E4F3F1"/>
          </a:solidFill>
          <a:ln/>
        </p:spPr>
      </p:sp>
      <p:pic>
        <p:nvPicPr>
          <p:cNvPr id="10" name="Image 1" descr="preencoded.png">    </p:cNvPr>
          <p:cNvPicPr>
            <a:picLocks noChangeAspect="1"/>
          </p:cNvPicPr>
          <p:nvPr/>
        </p:nvPicPr>
        <p:blipFill>
          <a:blip r:embed="rId2"/>
          <a:stretch>
            <a:fillRect/>
          </a:stretch>
        </p:blipFill>
        <p:spPr>
          <a:xfrm>
            <a:off x="883676" y="3334268"/>
            <a:ext cx="280904" cy="280904"/>
          </a:xfrm>
          <a:prstGeom prst="rect">
            <a:avLst/>
          </a:prstGeom>
        </p:spPr>
      </p:pic>
      <p:sp>
        <p:nvSpPr>
          <p:cNvPr id="11" name="Text 7"/>
          <p:cNvSpPr/>
          <p:nvPr/>
        </p:nvSpPr>
        <p:spPr>
          <a:xfrm>
            <a:off x="1600200" y="299008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Respiratory</a:t>
            </a:r>
            <a:endParaRPr lang="en-US" sz="1500" dirty="0"/>
          </a:p>
        </p:txBody>
      </p:sp>
      <p:sp>
        <p:nvSpPr>
          <p:cNvPr id="12" name="Text 8"/>
          <p:cNvSpPr/>
          <p:nvPr/>
        </p:nvSpPr>
        <p:spPr>
          <a:xfrm>
            <a:off x="1600200" y="333756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SpO2, respiratory rate, and ventilation status</a:t>
            </a:r>
            <a:endParaRPr lang="en-US" sz="1250" dirty="0"/>
          </a:p>
        </p:txBody>
      </p:sp>
      <p:sp>
        <p:nvSpPr>
          <p:cNvPr id="13" name="Shape 9"/>
          <p:cNvSpPr/>
          <p:nvPr/>
        </p:nvSpPr>
        <p:spPr>
          <a:xfrm>
            <a:off x="731520" y="4187952"/>
            <a:ext cx="585216" cy="585216"/>
          </a:xfrm>
          <a:prstGeom prst="ellipse">
            <a:avLst/>
          </a:prstGeom>
          <a:solidFill>
            <a:srgbClr val="E4F3F1"/>
          </a:solidFill>
          <a:ln/>
        </p:spPr>
      </p:sp>
      <p:pic>
        <p:nvPicPr>
          <p:cNvPr id="14" name="Image 2" descr="preencoded.png">    </p:cNvPr>
          <p:cNvPicPr>
            <a:picLocks noChangeAspect="1"/>
          </p:cNvPicPr>
          <p:nvPr/>
        </p:nvPicPr>
        <p:blipFill>
          <a:blip r:embed="rId3"/>
          <a:stretch>
            <a:fillRect/>
          </a:stretch>
        </p:blipFill>
        <p:spPr>
          <a:xfrm>
            <a:off x="883676" y="4340108"/>
            <a:ext cx="280904" cy="280904"/>
          </a:xfrm>
          <a:prstGeom prst="rect">
            <a:avLst/>
          </a:prstGeom>
        </p:spPr>
      </p:pic>
      <p:sp>
        <p:nvSpPr>
          <p:cNvPr id="15" name="Text 10"/>
          <p:cNvSpPr/>
          <p:nvPr/>
        </p:nvSpPr>
        <p:spPr>
          <a:xfrm>
            <a:off x="1600200" y="399592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Renal / Metabolic</a:t>
            </a:r>
            <a:endParaRPr lang="en-US" sz="1500" dirty="0"/>
          </a:p>
        </p:txBody>
      </p:sp>
      <p:sp>
        <p:nvSpPr>
          <p:cNvPr id="16" name="Text 11"/>
          <p:cNvSpPr/>
          <p:nvPr/>
        </p:nvSpPr>
        <p:spPr>
          <a:xfrm>
            <a:off x="1600200" y="434340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Relevant labs and metabolic trends</a:t>
            </a:r>
            <a:endParaRPr lang="en-US" sz="1250" dirty="0"/>
          </a:p>
        </p:txBody>
      </p:sp>
      <p:sp>
        <p:nvSpPr>
          <p:cNvPr id="17" name="Shape 12"/>
          <p:cNvSpPr/>
          <p:nvPr/>
        </p:nvSpPr>
        <p:spPr>
          <a:xfrm>
            <a:off x="731520" y="5193792"/>
            <a:ext cx="585216" cy="585216"/>
          </a:xfrm>
          <a:prstGeom prst="ellipse">
            <a:avLst/>
          </a:prstGeom>
          <a:solidFill>
            <a:srgbClr val="E4F3F1"/>
          </a:solidFill>
          <a:ln/>
        </p:spPr>
      </p:sp>
      <p:pic>
        <p:nvPicPr>
          <p:cNvPr id="18" name="Image 3" descr="preencoded.png">    </p:cNvPr>
          <p:cNvPicPr>
            <a:picLocks noChangeAspect="1"/>
          </p:cNvPicPr>
          <p:nvPr/>
        </p:nvPicPr>
        <p:blipFill>
          <a:blip r:embed="rId4"/>
          <a:stretch>
            <a:fillRect/>
          </a:stretch>
        </p:blipFill>
        <p:spPr>
          <a:xfrm>
            <a:off x="883676" y="5345948"/>
            <a:ext cx="280904" cy="280904"/>
          </a:xfrm>
          <a:prstGeom prst="rect">
            <a:avLst/>
          </a:prstGeom>
        </p:spPr>
      </p:pic>
      <p:sp>
        <p:nvSpPr>
          <p:cNvPr id="19" name="Text 13"/>
          <p:cNvSpPr/>
          <p:nvPr/>
        </p:nvSpPr>
        <p:spPr>
          <a:xfrm>
            <a:off x="1600200" y="500176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Neurological</a:t>
            </a:r>
            <a:endParaRPr lang="en-US" sz="1500" dirty="0"/>
          </a:p>
        </p:txBody>
      </p:sp>
      <p:sp>
        <p:nvSpPr>
          <p:cNvPr id="20" name="Text 14"/>
          <p:cNvSpPr/>
          <p:nvPr/>
        </p:nvSpPr>
        <p:spPr>
          <a:xfrm>
            <a:off x="1600200" y="534924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Mental status and neuro exam findings</a:t>
            </a:r>
            <a:endParaRPr lang="en-US" sz="1250" dirty="0"/>
          </a:p>
        </p:txBody>
      </p:sp>
      <p:sp>
        <p:nvSpPr>
          <p:cNvPr id="21"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CONVERSATIONAL ASSISTANT</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Ask a Question, Get a Cited Answer</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Available to Residents and Specialists, scoped to the currently open admission.</a:t>
            </a:r>
            <a:endParaRPr lang="en-US" sz="1350" dirty="0"/>
          </a:p>
        </p:txBody>
      </p:sp>
      <p:sp>
        <p:nvSpPr>
          <p:cNvPr id="5" name="Shape 3"/>
          <p:cNvSpPr/>
          <p:nvPr/>
        </p:nvSpPr>
        <p:spPr>
          <a:xfrm>
            <a:off x="731520" y="1965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6" name="Shape 4"/>
          <p:cNvSpPr/>
          <p:nvPr/>
        </p:nvSpPr>
        <p:spPr>
          <a:xfrm>
            <a:off x="987552" y="2203704"/>
            <a:ext cx="512064" cy="512064"/>
          </a:xfrm>
          <a:prstGeom prst="ellipse">
            <a:avLst/>
          </a:prstGeom>
          <a:solidFill>
            <a:srgbClr val="E4F3F1"/>
          </a:solidFill>
          <a:ln/>
        </p:spPr>
      </p:sp>
      <p:pic>
        <p:nvPicPr>
          <p:cNvPr id="7" name="Image 0" descr="preencoded.png">    </p:cNvPr>
          <p:cNvPicPr>
            <a:picLocks noChangeAspect="1"/>
          </p:cNvPicPr>
          <p:nvPr/>
        </p:nvPicPr>
        <p:blipFill>
          <a:blip r:embed="rId1"/>
          <a:stretch>
            <a:fillRect/>
          </a:stretch>
        </p:blipFill>
        <p:spPr>
          <a:xfrm>
            <a:off x="1120689" y="2336841"/>
            <a:ext cx="245791" cy="245791"/>
          </a:xfrm>
          <a:prstGeom prst="rect">
            <a:avLst/>
          </a:prstGeom>
        </p:spPr>
      </p:pic>
      <p:sp>
        <p:nvSpPr>
          <p:cNvPr id="8" name="Text 5"/>
          <p:cNvSpPr/>
          <p:nvPr/>
        </p:nvSpPr>
        <p:spPr>
          <a:xfrm>
            <a:off x="987552" y="2834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Natural-language Q&amp;A</a:t>
            </a:r>
            <a:endParaRPr lang="en-US" sz="1350" dirty="0"/>
          </a:p>
        </p:txBody>
      </p:sp>
      <p:sp>
        <p:nvSpPr>
          <p:cNvPr id="9" name="Text 6"/>
          <p:cNvSpPr/>
          <p:nvPr/>
        </p:nvSpPr>
        <p:spPr>
          <a:xfrm>
            <a:off x="987552" y="3172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"What was the trend in his lactate over the last 12 hours?" — answered from this patient's actual recorded data</a:t>
            </a:r>
            <a:endParaRPr lang="en-US" sz="1100" dirty="0"/>
          </a:p>
        </p:txBody>
      </p:sp>
      <p:sp>
        <p:nvSpPr>
          <p:cNvPr id="10" name="Shape 7"/>
          <p:cNvSpPr/>
          <p:nvPr/>
        </p:nvSpPr>
        <p:spPr>
          <a:xfrm>
            <a:off x="6233008" y="1965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1" name="Shape 8"/>
          <p:cNvSpPr/>
          <p:nvPr/>
        </p:nvSpPr>
        <p:spPr>
          <a:xfrm>
            <a:off x="6489040" y="2203704"/>
            <a:ext cx="512064" cy="512064"/>
          </a:xfrm>
          <a:prstGeom prst="ellipse">
            <a:avLst/>
          </a:prstGeom>
          <a:solidFill>
            <a:srgbClr val="E4F3F1"/>
          </a:solidFill>
          <a:ln/>
        </p:spPr>
      </p:sp>
      <p:pic>
        <p:nvPicPr>
          <p:cNvPr id="12" name="Image 1" descr="preencoded.png">    </p:cNvPr>
          <p:cNvPicPr>
            <a:picLocks noChangeAspect="1"/>
          </p:cNvPicPr>
          <p:nvPr/>
        </p:nvPicPr>
        <p:blipFill>
          <a:blip r:embed="rId2"/>
          <a:stretch>
            <a:fillRect/>
          </a:stretch>
        </p:blipFill>
        <p:spPr>
          <a:xfrm>
            <a:off x="6622176" y="2336841"/>
            <a:ext cx="245791" cy="245791"/>
          </a:xfrm>
          <a:prstGeom prst="rect">
            <a:avLst/>
          </a:prstGeom>
        </p:spPr>
      </p:pic>
      <p:sp>
        <p:nvSpPr>
          <p:cNvPr id="13" name="Text 9"/>
          <p:cNvSpPr/>
          <p:nvPr/>
        </p:nvSpPr>
        <p:spPr>
          <a:xfrm>
            <a:off x="6489040" y="2834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Voice input &amp; output</a:t>
            </a:r>
            <a:endParaRPr lang="en-US" sz="1350" dirty="0"/>
          </a:p>
        </p:txBody>
      </p:sp>
      <p:sp>
        <p:nvSpPr>
          <p:cNvPr id="14" name="Text 10"/>
          <p:cNvSpPr/>
          <p:nvPr/>
        </p:nvSpPr>
        <p:spPr>
          <a:xfrm>
            <a:off x="6489040" y="3172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Browser-based speech recognition and synthesis — hands-free for gloved, bedside use. No audio ever reaches the server.</a:t>
            </a:r>
            <a:endParaRPr lang="en-US" sz="1100" dirty="0"/>
          </a:p>
        </p:txBody>
      </p:sp>
      <p:sp>
        <p:nvSpPr>
          <p:cNvPr id="15" name="Shape 11"/>
          <p:cNvSpPr/>
          <p:nvPr/>
        </p:nvSpPr>
        <p:spPr>
          <a:xfrm>
            <a:off x="731520" y="4251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6" name="Shape 12"/>
          <p:cNvSpPr/>
          <p:nvPr/>
        </p:nvSpPr>
        <p:spPr>
          <a:xfrm>
            <a:off x="987552" y="4489704"/>
            <a:ext cx="512064" cy="512064"/>
          </a:xfrm>
          <a:prstGeom prst="ellipse">
            <a:avLst/>
          </a:prstGeom>
          <a:solidFill>
            <a:srgbClr val="E4F3F1"/>
          </a:solidFill>
          <a:ln/>
        </p:spPr>
      </p:sp>
      <p:pic>
        <p:nvPicPr>
          <p:cNvPr id="17" name="Image 2" descr="preencoded.png">    </p:cNvPr>
          <p:cNvPicPr>
            <a:picLocks noChangeAspect="1"/>
          </p:cNvPicPr>
          <p:nvPr/>
        </p:nvPicPr>
        <p:blipFill>
          <a:blip r:embed="rId3"/>
          <a:stretch>
            <a:fillRect/>
          </a:stretch>
        </p:blipFill>
        <p:spPr>
          <a:xfrm>
            <a:off x="1120689" y="4622841"/>
            <a:ext cx="245791" cy="245791"/>
          </a:xfrm>
          <a:prstGeom prst="rect">
            <a:avLst/>
          </a:prstGeom>
        </p:spPr>
      </p:pic>
      <p:sp>
        <p:nvSpPr>
          <p:cNvPr id="18" name="Text 13"/>
          <p:cNvSpPr/>
          <p:nvPr/>
        </p:nvSpPr>
        <p:spPr>
          <a:xfrm>
            <a:off x="987552" y="5120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Saved, searchable chats</a:t>
            </a:r>
            <a:endParaRPr lang="en-US" sz="1350" dirty="0"/>
          </a:p>
        </p:txBody>
      </p:sp>
      <p:sp>
        <p:nvSpPr>
          <p:cNvPr id="19" name="Text 14"/>
          <p:cNvSpPr/>
          <p:nvPr/>
        </p:nvSpPr>
        <p:spPr>
          <a:xfrm>
            <a:off x="987552" y="5458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Conversations can be named, revisited, and have reference files attached</a:t>
            </a:r>
            <a:endParaRPr lang="en-US" sz="1100" dirty="0"/>
          </a:p>
        </p:txBody>
      </p:sp>
      <p:sp>
        <p:nvSpPr>
          <p:cNvPr id="20" name="Shape 15"/>
          <p:cNvSpPr/>
          <p:nvPr/>
        </p:nvSpPr>
        <p:spPr>
          <a:xfrm>
            <a:off x="6233008" y="4251960"/>
            <a:ext cx="5227168" cy="2011680"/>
          </a:xfrm>
          <a:prstGeom prst="roundRect">
            <a:avLst>
              <a:gd name="adj" fmla="val 3182"/>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1" name="Shape 16"/>
          <p:cNvSpPr/>
          <p:nvPr/>
        </p:nvSpPr>
        <p:spPr>
          <a:xfrm>
            <a:off x="6489040" y="4489704"/>
            <a:ext cx="512064" cy="512064"/>
          </a:xfrm>
          <a:prstGeom prst="ellipse">
            <a:avLst/>
          </a:prstGeom>
          <a:solidFill>
            <a:srgbClr val="E4F3F1"/>
          </a:solidFill>
          <a:ln/>
        </p:spPr>
      </p:sp>
      <p:pic>
        <p:nvPicPr>
          <p:cNvPr id="22" name="Image 3" descr="preencoded.png">    </p:cNvPr>
          <p:cNvPicPr>
            <a:picLocks noChangeAspect="1"/>
          </p:cNvPicPr>
          <p:nvPr/>
        </p:nvPicPr>
        <p:blipFill>
          <a:blip r:embed="rId4"/>
          <a:stretch>
            <a:fillRect/>
          </a:stretch>
        </p:blipFill>
        <p:spPr>
          <a:xfrm>
            <a:off x="6622176" y="4622841"/>
            <a:ext cx="245791" cy="245791"/>
          </a:xfrm>
          <a:prstGeom prst="rect">
            <a:avLst/>
          </a:prstGeom>
        </p:spPr>
      </p:pic>
      <p:sp>
        <p:nvSpPr>
          <p:cNvPr id="23" name="Text 17"/>
          <p:cNvSpPr/>
          <p:nvPr/>
        </p:nvSpPr>
        <p:spPr>
          <a:xfrm>
            <a:off x="6489040" y="512064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Source citations on every answer</a:t>
            </a:r>
            <a:endParaRPr lang="en-US" sz="1350" dirty="0"/>
          </a:p>
        </p:txBody>
      </p:sp>
      <p:sp>
        <p:nvSpPr>
          <p:cNvPr id="24" name="Text 18"/>
          <p:cNvSpPr/>
          <p:nvPr/>
        </p:nvSpPr>
        <p:spPr>
          <a:xfrm>
            <a:off x="6489040" y="5458968"/>
            <a:ext cx="4715104" cy="6400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Every claim is traceable back to the exact record it came from</a:t>
            </a:r>
            <a:endParaRPr lang="en-US" sz="1100" dirty="0"/>
          </a:p>
        </p:txBody>
      </p:sp>
      <p:sp>
        <p:nvSpPr>
          <p:cNvPr id="25" name="Text 1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AUTONOMOUS MONITORING</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Alerts Before the Threshold, With the Reasoning Shown</a:t>
            </a:r>
            <a:endParaRPr lang="en-US" sz="3000" dirty="0"/>
          </a:p>
        </p:txBody>
      </p:sp>
      <p:sp>
        <p:nvSpPr>
          <p:cNvPr id="4" name="Shape 2"/>
          <p:cNvSpPr/>
          <p:nvPr/>
        </p:nvSpPr>
        <p:spPr>
          <a:xfrm>
            <a:off x="731520" y="1936242"/>
            <a:ext cx="585216" cy="585216"/>
          </a:xfrm>
          <a:prstGeom prst="ellipse">
            <a:avLst/>
          </a:prstGeom>
          <a:solidFill>
            <a:srgbClr val="E4F3F1"/>
          </a:solidFill>
          <a:ln/>
        </p:spPr>
      </p:sp>
      <p:pic>
        <p:nvPicPr>
          <p:cNvPr id="5" name="Image 0" descr="preencoded.png">    </p:cNvPr>
          <p:cNvPicPr>
            <a:picLocks noChangeAspect="1"/>
          </p:cNvPicPr>
          <p:nvPr/>
        </p:nvPicPr>
        <p:blipFill>
          <a:blip r:embed="rId1"/>
          <a:stretch>
            <a:fillRect/>
          </a:stretch>
        </p:blipFill>
        <p:spPr>
          <a:xfrm>
            <a:off x="883676" y="2088398"/>
            <a:ext cx="280904" cy="280904"/>
          </a:xfrm>
          <a:prstGeom prst="rect">
            <a:avLst/>
          </a:prstGeom>
        </p:spPr>
      </p:pic>
      <p:sp>
        <p:nvSpPr>
          <p:cNvPr id="6" name="Text 3"/>
          <p:cNvSpPr/>
          <p:nvPr/>
        </p:nvSpPr>
        <p:spPr>
          <a:xfrm>
            <a:off x="1600200" y="170992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Continuous background evaluation</a:t>
            </a:r>
            <a:endParaRPr lang="en-US" sz="1500" dirty="0"/>
          </a:p>
        </p:txBody>
      </p:sp>
      <p:sp>
        <p:nvSpPr>
          <p:cNvPr id="7" name="Text 4"/>
          <p:cNvSpPr/>
          <p:nvPr/>
        </p:nvSpPr>
        <p:spPr>
          <a:xfrm>
            <a:off x="1600200" y="205740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Vitals are evaluated as they're recorded — not on a fixed polling schedule</a:t>
            </a:r>
            <a:endParaRPr lang="en-US" sz="1250" dirty="0"/>
          </a:p>
        </p:txBody>
      </p:sp>
      <p:sp>
        <p:nvSpPr>
          <p:cNvPr id="8" name="Shape 5"/>
          <p:cNvSpPr/>
          <p:nvPr/>
        </p:nvSpPr>
        <p:spPr>
          <a:xfrm>
            <a:off x="731520" y="3010662"/>
            <a:ext cx="585216" cy="585216"/>
          </a:xfrm>
          <a:prstGeom prst="ellipse">
            <a:avLst/>
          </a:prstGeom>
          <a:solidFill>
            <a:srgbClr val="E4F3F1"/>
          </a:solidFill>
          <a:ln/>
        </p:spPr>
      </p:sp>
      <p:pic>
        <p:nvPicPr>
          <p:cNvPr id="9" name="Image 1" descr="preencoded.png">    </p:cNvPr>
          <p:cNvPicPr>
            <a:picLocks noChangeAspect="1"/>
          </p:cNvPicPr>
          <p:nvPr/>
        </p:nvPicPr>
        <p:blipFill>
          <a:blip r:embed="rId2"/>
          <a:stretch>
            <a:fillRect/>
          </a:stretch>
        </p:blipFill>
        <p:spPr>
          <a:xfrm>
            <a:off x="883676" y="3162818"/>
            <a:ext cx="280904" cy="280904"/>
          </a:xfrm>
          <a:prstGeom prst="rect">
            <a:avLst/>
          </a:prstGeom>
        </p:spPr>
      </p:pic>
      <p:sp>
        <p:nvSpPr>
          <p:cNvPr id="10" name="Text 6"/>
          <p:cNvSpPr/>
          <p:nvPr/>
        </p:nvSpPr>
        <p:spPr>
          <a:xfrm>
            <a:off x="1600200" y="278434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Multi-variable pattern detection</a:t>
            </a:r>
            <a:endParaRPr lang="en-US" sz="1500" dirty="0"/>
          </a:p>
        </p:txBody>
      </p:sp>
      <p:sp>
        <p:nvSpPr>
          <p:cNvPr id="11" name="Text 7"/>
          <p:cNvSpPr/>
          <p:nvPr/>
        </p:nvSpPr>
        <p:spPr>
          <a:xfrm>
            <a:off x="1600200" y="313182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Falling BP + rising pulse + fever together, not any single value in isolation</a:t>
            </a:r>
            <a:endParaRPr lang="en-US" sz="1250" dirty="0"/>
          </a:p>
        </p:txBody>
      </p:sp>
      <p:sp>
        <p:nvSpPr>
          <p:cNvPr id="12" name="Shape 8"/>
          <p:cNvSpPr/>
          <p:nvPr/>
        </p:nvSpPr>
        <p:spPr>
          <a:xfrm>
            <a:off x="731520" y="4085082"/>
            <a:ext cx="585216" cy="585216"/>
          </a:xfrm>
          <a:prstGeom prst="ellipse">
            <a:avLst/>
          </a:prstGeom>
          <a:solidFill>
            <a:srgbClr val="E4F3F1"/>
          </a:solidFill>
          <a:ln/>
        </p:spPr>
      </p:sp>
      <p:pic>
        <p:nvPicPr>
          <p:cNvPr id="13" name="Image 2" descr="preencoded.png">    </p:cNvPr>
          <p:cNvPicPr>
            <a:picLocks noChangeAspect="1"/>
          </p:cNvPicPr>
          <p:nvPr/>
        </p:nvPicPr>
        <p:blipFill>
          <a:blip r:embed="rId3"/>
          <a:stretch>
            <a:fillRect/>
          </a:stretch>
        </p:blipFill>
        <p:spPr>
          <a:xfrm>
            <a:off x="883676" y="4237238"/>
            <a:ext cx="280904" cy="280904"/>
          </a:xfrm>
          <a:prstGeom prst="rect">
            <a:avLst/>
          </a:prstGeom>
        </p:spPr>
      </p:pic>
      <p:sp>
        <p:nvSpPr>
          <p:cNvPr id="14" name="Text 9"/>
          <p:cNvSpPr/>
          <p:nvPr/>
        </p:nvSpPr>
        <p:spPr>
          <a:xfrm>
            <a:off x="1600200" y="385876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Severity-ranked alerts</a:t>
            </a:r>
            <a:endParaRPr lang="en-US" sz="1500" dirty="0"/>
          </a:p>
        </p:txBody>
      </p:sp>
      <p:sp>
        <p:nvSpPr>
          <p:cNvPr id="15" name="Text 10"/>
          <p:cNvSpPr/>
          <p:nvPr/>
        </p:nvSpPr>
        <p:spPr>
          <a:xfrm>
            <a:off x="1600200" y="420624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P0 (critical) and P1 (warning) tiers, so the team knows what to look at first</a:t>
            </a:r>
            <a:endParaRPr lang="en-US" sz="1250" dirty="0"/>
          </a:p>
        </p:txBody>
      </p:sp>
      <p:sp>
        <p:nvSpPr>
          <p:cNvPr id="16" name="Shape 11"/>
          <p:cNvSpPr/>
          <p:nvPr/>
        </p:nvSpPr>
        <p:spPr>
          <a:xfrm>
            <a:off x="731520" y="5159502"/>
            <a:ext cx="585216" cy="585216"/>
          </a:xfrm>
          <a:prstGeom prst="ellipse">
            <a:avLst/>
          </a:prstGeom>
          <a:solidFill>
            <a:srgbClr val="E4F3F1"/>
          </a:solidFill>
          <a:ln/>
        </p:spPr>
      </p:sp>
      <p:pic>
        <p:nvPicPr>
          <p:cNvPr id="17" name="Image 3" descr="preencoded.png">    </p:cNvPr>
          <p:cNvPicPr>
            <a:picLocks noChangeAspect="1"/>
          </p:cNvPicPr>
          <p:nvPr/>
        </p:nvPicPr>
        <p:blipFill>
          <a:blip r:embed="rId4"/>
          <a:stretch>
            <a:fillRect/>
          </a:stretch>
        </p:blipFill>
        <p:spPr>
          <a:xfrm>
            <a:off x="883676" y="5311658"/>
            <a:ext cx="280904" cy="280904"/>
          </a:xfrm>
          <a:prstGeom prst="rect">
            <a:avLst/>
          </a:prstGeom>
        </p:spPr>
      </p:pic>
      <p:sp>
        <p:nvSpPr>
          <p:cNvPr id="18" name="Text 12"/>
          <p:cNvSpPr/>
          <p:nvPr/>
        </p:nvSpPr>
        <p:spPr>
          <a:xfrm>
            <a:off x="1600200" y="493318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Clinical reasoning explanation on every alert</a:t>
            </a:r>
            <a:endParaRPr lang="en-US" sz="1500" dirty="0"/>
          </a:p>
        </p:txBody>
      </p:sp>
      <p:sp>
        <p:nvSpPr>
          <p:cNvPr id="19" name="Text 13"/>
          <p:cNvSpPr/>
          <p:nvPr/>
        </p:nvSpPr>
        <p:spPr>
          <a:xfrm>
            <a:off x="1600200" y="5280660"/>
            <a:ext cx="9784080" cy="66294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The exact triggering metrics and a differential are shown — never just "something is wrong"</a:t>
            </a:r>
            <a:endParaRPr lang="en-US" sz="1250" dirty="0"/>
          </a:p>
        </p:txBody>
      </p:sp>
      <p:sp>
        <p:nvSpPr>
          <p:cNvPr id="20" name="Text 14"/>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22960" y="1371600"/>
            <a:ext cx="3657600" cy="1828800"/>
          </a:xfrm>
          <a:prstGeom prst="rect">
            <a:avLst/>
          </a:prstGeom>
          <a:noFill/>
          <a:ln/>
        </p:spPr>
        <p:txBody>
          <a:bodyPr wrap="square" lIns="0" tIns="0" rIns="0" bIns="0" rtlCol="0" anchor="ctr"/>
          <a:lstStyle/>
          <a:p>
            <a:pPr indent="0" marL="0">
              <a:buNone/>
            </a:pPr>
            <a:r>
              <a:rPr lang="en-US" sz="13000" b="1" dirty="0">
                <a:solidFill>
                  <a:srgbClr val="173257"/>
                </a:solidFill>
                <a:latin typeface="Cambria" pitchFamily="34" charset="0"/>
                <a:ea typeface="Cambria" pitchFamily="34" charset="-122"/>
                <a:cs typeface="Cambria" pitchFamily="34" charset="-120"/>
              </a:rPr>
              <a:t>05</a:t>
            </a:r>
            <a:endParaRPr lang="en-US" sz="13000" dirty="0"/>
          </a:p>
        </p:txBody>
      </p:sp>
      <p:sp>
        <p:nvSpPr>
          <p:cNvPr id="3" name="Shape 1"/>
          <p:cNvSpPr/>
          <p:nvPr/>
        </p:nvSpPr>
        <p:spPr>
          <a:xfrm>
            <a:off x="868680" y="3063240"/>
            <a:ext cx="914400" cy="914400"/>
          </a:xfrm>
          <a:prstGeom prst="ellipse">
            <a:avLst/>
          </a:prstGeom>
          <a:solidFill>
            <a:srgbClr val="13877F"/>
          </a:solidFill>
          <a:ln/>
        </p:spPr>
      </p:sp>
      <p:pic>
        <p:nvPicPr>
          <p:cNvPr id="4" name="Image 0" descr="preencoded.png">    </p:cNvPr>
          <p:cNvPicPr>
            <a:picLocks noChangeAspect="1"/>
          </p:cNvPicPr>
          <p:nvPr/>
        </p:nvPicPr>
        <p:blipFill>
          <a:blip r:embed="rId1"/>
          <a:stretch>
            <a:fillRect/>
          </a:stretch>
        </p:blipFill>
        <p:spPr>
          <a:xfrm>
            <a:off x="1106424" y="3300984"/>
            <a:ext cx="438912" cy="438912"/>
          </a:xfrm>
          <a:prstGeom prst="rect">
            <a:avLst/>
          </a:prstGeom>
        </p:spPr>
      </p:pic>
      <p:sp>
        <p:nvSpPr>
          <p:cNvPr id="5" name="Text 2"/>
          <p:cNvSpPr/>
          <p:nvPr/>
        </p:nvSpPr>
        <p:spPr>
          <a:xfrm>
            <a:off x="2011680" y="3017520"/>
            <a:ext cx="89611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Admin, Deployment &amp; Roadmap</a:t>
            </a:r>
            <a:endParaRPr lang="en-US" sz="3800" dirty="0"/>
          </a:p>
        </p:txBody>
      </p:sp>
      <p:sp>
        <p:nvSpPr>
          <p:cNvPr id="6" name="Text 3"/>
          <p:cNvSpPr/>
          <p:nvPr/>
        </p:nvSpPr>
        <p:spPr>
          <a:xfrm>
            <a:off x="2029968" y="3794760"/>
            <a:ext cx="8686800" cy="457200"/>
          </a:xfrm>
          <a:prstGeom prst="rect">
            <a:avLst/>
          </a:prstGeom>
          <a:noFill/>
          <a:ln/>
        </p:spPr>
        <p:txBody>
          <a:bodyPr wrap="square" lIns="0" tIns="0" rIns="0" bIns="0" rtlCol="0" anchor="ctr"/>
          <a:lstStyle/>
          <a:p>
            <a:pPr indent="0" marL="0">
              <a:buNone/>
            </a:pPr>
            <a:r>
              <a:rPr lang="en-US" sz="1600" dirty="0">
                <a:solidFill>
                  <a:srgbClr val="AFC3E0"/>
                </a:solidFill>
                <a:latin typeface="Calibri" pitchFamily="34" charset="0"/>
                <a:ea typeface="Calibri" pitchFamily="34" charset="-122"/>
                <a:cs typeface="Calibri" pitchFamily="34" charset="-120"/>
              </a:rPr>
              <a:t>Running it, operating it, and what's next</a:t>
            </a:r>
            <a:endParaRPr lang="en-US" sz="1600" dirty="0"/>
          </a:p>
        </p:txBody>
      </p:sp>
      <p:sp>
        <p:nvSpPr>
          <p:cNvPr id="7" name="Shape 4"/>
          <p:cNvSpPr/>
          <p:nvPr/>
        </p:nvSpPr>
        <p:spPr>
          <a:xfrm>
            <a:off x="2029968" y="4480560"/>
            <a:ext cx="2743200" cy="502920"/>
          </a:xfrm>
          <a:prstGeom prst="roundRect">
            <a:avLst>
              <a:gd name="adj" fmla="val 14545"/>
            </a:avLst>
          </a:prstGeom>
          <a:solidFill>
            <a:srgbClr val="081B33"/>
          </a:solidFill>
          <a:ln w="12700">
            <a:solidFill>
              <a:srgbClr val="13877F"/>
            </a:solidFill>
            <a:prstDash val="solid"/>
          </a:ln>
        </p:spPr>
      </p:sp>
      <p:sp>
        <p:nvSpPr>
          <p:cNvPr id="8" name="Text 5"/>
          <p:cNvSpPr/>
          <p:nvPr/>
        </p:nvSpPr>
        <p:spPr>
          <a:xfrm>
            <a:off x="2029968" y="4480560"/>
            <a:ext cx="2743200" cy="502920"/>
          </a:xfrm>
          <a:prstGeom prst="rect">
            <a:avLst/>
          </a:prstGeom>
          <a:noFill/>
          <a:ln/>
        </p:spPr>
        <p:txBody>
          <a:bodyPr wrap="square" lIns="0" tIns="0" rIns="0" bIns="0" rtlCol="0" anchor="ctr"/>
          <a:lstStyle/>
          <a:p>
            <a:pPr algn="ctr" indent="0" marL="0">
              <a:buNone/>
            </a:pPr>
            <a:r>
              <a:rPr lang="en-US" sz="1050" b="1" dirty="0">
                <a:solidFill>
                  <a:srgbClr val="13877F"/>
                </a:solidFill>
                <a:latin typeface="Calibri" pitchFamily="34" charset="0"/>
                <a:ea typeface="Calibri" pitchFamily="34" charset="-122"/>
                <a:cs typeface="Calibri" pitchFamily="34" charset="-120"/>
              </a:rPr>
              <a:t>PRESENTED BY  TEAM MEMBER 5</a:t>
            </a:r>
            <a:endParaRPr lang="en-US" sz="10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C7089"/>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ADMIN CONTROL CENTER</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Full Operational Visibility, Zero Clinical Access</a:t>
            </a:r>
            <a:endParaRPr lang="en-US" sz="3000" dirty="0"/>
          </a:p>
        </p:txBody>
      </p:sp>
      <p:sp>
        <p:nvSpPr>
          <p:cNvPr id="4" name="Shape 2"/>
          <p:cNvSpPr/>
          <p:nvPr/>
        </p:nvSpPr>
        <p:spPr>
          <a:xfrm>
            <a:off x="731520" y="1691640"/>
            <a:ext cx="522716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5" name="Shape 3"/>
          <p:cNvSpPr/>
          <p:nvPr/>
        </p:nvSpPr>
        <p:spPr>
          <a:xfrm>
            <a:off x="987552" y="1929384"/>
            <a:ext cx="512064" cy="512064"/>
          </a:xfrm>
          <a:prstGeom prst="ellipse">
            <a:avLst/>
          </a:prstGeom>
          <a:solidFill>
            <a:srgbClr val="E4F3F1"/>
          </a:solidFill>
          <a:ln/>
        </p:spPr>
      </p:sp>
      <p:pic>
        <p:nvPicPr>
          <p:cNvPr id="6" name="Image 0" descr="preencoded.png">    </p:cNvPr>
          <p:cNvPicPr>
            <a:picLocks noChangeAspect="1"/>
          </p:cNvPicPr>
          <p:nvPr/>
        </p:nvPicPr>
        <p:blipFill>
          <a:blip r:embed="rId1"/>
          <a:stretch>
            <a:fillRect/>
          </a:stretch>
        </p:blipFill>
        <p:spPr>
          <a:xfrm>
            <a:off x="1120689" y="2062521"/>
            <a:ext cx="245791" cy="245791"/>
          </a:xfrm>
          <a:prstGeom prst="rect">
            <a:avLst/>
          </a:prstGeom>
        </p:spPr>
      </p:pic>
      <p:sp>
        <p:nvSpPr>
          <p:cNvPr id="7" name="Text 4"/>
          <p:cNvSpPr/>
          <p:nvPr/>
        </p:nvSpPr>
        <p:spPr>
          <a:xfrm>
            <a:off x="987552" y="256032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User &amp; Bed Management</a:t>
            </a:r>
            <a:endParaRPr lang="en-US" sz="1350" dirty="0"/>
          </a:p>
        </p:txBody>
      </p:sp>
      <p:sp>
        <p:nvSpPr>
          <p:cNvPr id="8" name="Text 5"/>
          <p:cNvSpPr/>
          <p:nvPr/>
        </p:nvSpPr>
        <p:spPr>
          <a:xfrm>
            <a:off x="987552" y="2898648"/>
            <a:ext cx="471510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Provision accounts, assign roles, manage the ward's bed inventory with live status</a:t>
            </a:r>
            <a:endParaRPr lang="en-US" sz="1100" dirty="0"/>
          </a:p>
        </p:txBody>
      </p:sp>
      <p:sp>
        <p:nvSpPr>
          <p:cNvPr id="9" name="Shape 6"/>
          <p:cNvSpPr/>
          <p:nvPr/>
        </p:nvSpPr>
        <p:spPr>
          <a:xfrm>
            <a:off x="6233008" y="1691640"/>
            <a:ext cx="522716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0" name="Shape 7"/>
          <p:cNvSpPr/>
          <p:nvPr/>
        </p:nvSpPr>
        <p:spPr>
          <a:xfrm>
            <a:off x="6489040" y="1929384"/>
            <a:ext cx="512064" cy="512064"/>
          </a:xfrm>
          <a:prstGeom prst="ellipse">
            <a:avLst/>
          </a:prstGeom>
          <a:solidFill>
            <a:srgbClr val="E4F3F1"/>
          </a:solidFill>
          <a:ln/>
        </p:spPr>
      </p:sp>
      <p:pic>
        <p:nvPicPr>
          <p:cNvPr id="11" name="Image 1" descr="preencoded.png">    </p:cNvPr>
          <p:cNvPicPr>
            <a:picLocks noChangeAspect="1"/>
          </p:cNvPicPr>
          <p:nvPr/>
        </p:nvPicPr>
        <p:blipFill>
          <a:blip r:embed="rId2"/>
          <a:stretch>
            <a:fillRect/>
          </a:stretch>
        </p:blipFill>
        <p:spPr>
          <a:xfrm>
            <a:off x="6622176" y="2062521"/>
            <a:ext cx="245791" cy="245791"/>
          </a:xfrm>
          <a:prstGeom prst="rect">
            <a:avLst/>
          </a:prstGeom>
        </p:spPr>
      </p:pic>
      <p:sp>
        <p:nvSpPr>
          <p:cNvPr id="12" name="Text 8"/>
          <p:cNvSpPr/>
          <p:nvPr/>
        </p:nvSpPr>
        <p:spPr>
          <a:xfrm>
            <a:off x="6489040" y="256032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Audit Log</a:t>
            </a:r>
            <a:endParaRPr lang="en-US" sz="1350" dirty="0"/>
          </a:p>
        </p:txBody>
      </p:sp>
      <p:sp>
        <p:nvSpPr>
          <p:cNvPr id="13" name="Text 9"/>
          <p:cNvSpPr/>
          <p:nvPr/>
        </p:nvSpPr>
        <p:spPr>
          <a:xfrm>
            <a:off x="6489040" y="2898648"/>
            <a:ext cx="471510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Every create, update, archive, and login across the system — filterable by user, action, and time window</a:t>
            </a:r>
            <a:endParaRPr lang="en-US" sz="1100" dirty="0"/>
          </a:p>
        </p:txBody>
      </p:sp>
      <p:sp>
        <p:nvSpPr>
          <p:cNvPr id="14" name="Shape 10"/>
          <p:cNvSpPr/>
          <p:nvPr/>
        </p:nvSpPr>
        <p:spPr>
          <a:xfrm>
            <a:off x="731520" y="4114800"/>
            <a:ext cx="522716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15" name="Shape 11"/>
          <p:cNvSpPr/>
          <p:nvPr/>
        </p:nvSpPr>
        <p:spPr>
          <a:xfrm>
            <a:off x="987552" y="4352544"/>
            <a:ext cx="512064" cy="512064"/>
          </a:xfrm>
          <a:prstGeom prst="ellipse">
            <a:avLst/>
          </a:prstGeom>
          <a:solidFill>
            <a:srgbClr val="E4F3F1"/>
          </a:solidFill>
          <a:ln/>
        </p:spPr>
      </p:sp>
      <p:pic>
        <p:nvPicPr>
          <p:cNvPr id="16" name="Image 2" descr="preencoded.png">    </p:cNvPr>
          <p:cNvPicPr>
            <a:picLocks noChangeAspect="1"/>
          </p:cNvPicPr>
          <p:nvPr/>
        </p:nvPicPr>
        <p:blipFill>
          <a:blip r:embed="rId3"/>
          <a:stretch>
            <a:fillRect/>
          </a:stretch>
        </p:blipFill>
        <p:spPr>
          <a:xfrm>
            <a:off x="1120689" y="4485681"/>
            <a:ext cx="245791" cy="245791"/>
          </a:xfrm>
          <a:prstGeom prst="rect">
            <a:avLst/>
          </a:prstGeom>
        </p:spPr>
      </p:pic>
      <p:sp>
        <p:nvSpPr>
          <p:cNvPr id="17" name="Text 12"/>
          <p:cNvSpPr/>
          <p:nvPr/>
        </p:nvSpPr>
        <p:spPr>
          <a:xfrm>
            <a:off x="987552" y="498348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Login Attempt Monitoring</a:t>
            </a:r>
            <a:endParaRPr lang="en-US" sz="1350" dirty="0"/>
          </a:p>
        </p:txBody>
      </p:sp>
      <p:sp>
        <p:nvSpPr>
          <p:cNvPr id="18" name="Text 13"/>
          <p:cNvSpPr/>
          <p:nvPr/>
        </p:nvSpPr>
        <p:spPr>
          <a:xfrm>
            <a:off x="987552" y="5321808"/>
            <a:ext cx="471510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Every login attempt logged with outcome, IP, and reason; searchable and time-windowed</a:t>
            </a:r>
            <a:endParaRPr lang="en-US" sz="1100" dirty="0"/>
          </a:p>
        </p:txBody>
      </p:sp>
      <p:sp>
        <p:nvSpPr>
          <p:cNvPr id="19" name="Shape 14"/>
          <p:cNvSpPr/>
          <p:nvPr/>
        </p:nvSpPr>
        <p:spPr>
          <a:xfrm>
            <a:off x="6233008" y="4114800"/>
            <a:ext cx="5227168" cy="2148840"/>
          </a:xfrm>
          <a:prstGeom prst="roundRect">
            <a:avLst>
              <a:gd name="adj" fmla="val 2979"/>
            </a:avLst>
          </a:prstGeom>
          <a:solidFill>
            <a:srgbClr val="FFFFFF"/>
          </a:solidFill>
          <a:ln w="12700">
            <a:solidFill>
              <a:srgbClr val="E3E9F0"/>
            </a:solidFill>
            <a:prstDash val="solid"/>
          </a:ln>
          <a:effectLst>
            <a:outerShdw sx="100000" sy="100000" kx="0" ky="0" algn="bl" rotWithShape="0" blurRad="76200" dist="25400" dir="5400000">
              <a:srgbClr val="1A2333">
                <a:alpha val="7000"/>
              </a:srgbClr>
            </a:outerShdw>
          </a:effectLst>
        </p:spPr>
      </p:sp>
      <p:sp>
        <p:nvSpPr>
          <p:cNvPr id="20" name="Shape 15"/>
          <p:cNvSpPr/>
          <p:nvPr/>
        </p:nvSpPr>
        <p:spPr>
          <a:xfrm>
            <a:off x="6489040" y="4352544"/>
            <a:ext cx="512064" cy="512064"/>
          </a:xfrm>
          <a:prstGeom prst="ellipse">
            <a:avLst/>
          </a:prstGeom>
          <a:solidFill>
            <a:srgbClr val="E4F3F1"/>
          </a:solidFill>
          <a:ln/>
        </p:spPr>
      </p:sp>
      <p:pic>
        <p:nvPicPr>
          <p:cNvPr id="21" name="Image 3" descr="preencoded.png">    </p:cNvPr>
          <p:cNvPicPr>
            <a:picLocks noChangeAspect="1"/>
          </p:cNvPicPr>
          <p:nvPr/>
        </p:nvPicPr>
        <p:blipFill>
          <a:blip r:embed="rId4"/>
          <a:stretch>
            <a:fillRect/>
          </a:stretch>
        </p:blipFill>
        <p:spPr>
          <a:xfrm>
            <a:off x="6622176" y="4485681"/>
            <a:ext cx="245791" cy="245791"/>
          </a:xfrm>
          <a:prstGeom prst="rect">
            <a:avLst/>
          </a:prstGeom>
        </p:spPr>
      </p:pic>
      <p:sp>
        <p:nvSpPr>
          <p:cNvPr id="22" name="Text 16"/>
          <p:cNvSpPr/>
          <p:nvPr/>
        </p:nvSpPr>
        <p:spPr>
          <a:xfrm>
            <a:off x="6489040" y="4983480"/>
            <a:ext cx="4715104" cy="347472"/>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Assisted Password Reset</a:t>
            </a:r>
            <a:endParaRPr lang="en-US" sz="1350" dirty="0"/>
          </a:p>
        </p:txBody>
      </p:sp>
      <p:sp>
        <p:nvSpPr>
          <p:cNvPr id="23" name="Text 17"/>
          <p:cNvSpPr/>
          <p:nvPr/>
        </p:nvSpPr>
        <p:spPr>
          <a:xfrm>
            <a:off x="6489040" y="5321808"/>
            <a:ext cx="4715104" cy="77724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In-app workflow for locked-out clinicians — never exposes whether an email exists</a:t>
            </a:r>
            <a:endParaRPr lang="en-US" sz="1100" dirty="0"/>
          </a:p>
        </p:txBody>
      </p:sp>
      <p:sp>
        <p:nvSpPr>
          <p:cNvPr id="24" name="Text 1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FROM CODE TO CLOUD</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Containerized, Documented, Deployable</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A backend that runs identically on any machine, and an API that documents itself.</a:t>
            </a:r>
            <a:endParaRPr lang="en-US" sz="1350" dirty="0"/>
          </a:p>
        </p:txBody>
      </p:sp>
      <p:sp>
        <p:nvSpPr>
          <p:cNvPr id="5" name="Shape 3"/>
          <p:cNvSpPr/>
          <p:nvPr/>
        </p:nvSpPr>
        <p:spPr>
          <a:xfrm>
            <a:off x="731520" y="2286000"/>
            <a:ext cx="3362858" cy="3291840"/>
          </a:xfrm>
          <a:prstGeom prst="roundRect">
            <a:avLst>
              <a:gd name="adj" fmla="val 2222"/>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6" name="Shape 4"/>
          <p:cNvSpPr/>
          <p:nvPr/>
        </p:nvSpPr>
        <p:spPr>
          <a:xfrm>
            <a:off x="2120341" y="2606040"/>
            <a:ext cx="585216" cy="585216"/>
          </a:xfrm>
          <a:prstGeom prst="ellipse">
            <a:avLst/>
          </a:prstGeom>
          <a:solidFill>
            <a:srgbClr val="E4F3F1"/>
          </a:solidFill>
          <a:ln/>
        </p:spPr>
      </p:sp>
      <p:pic>
        <p:nvPicPr>
          <p:cNvPr id="7" name="Image 0" descr="preencoded.png">    </p:cNvPr>
          <p:cNvPicPr>
            <a:picLocks noChangeAspect="1"/>
          </p:cNvPicPr>
          <p:nvPr/>
        </p:nvPicPr>
        <p:blipFill>
          <a:blip r:embed="rId1"/>
          <a:stretch>
            <a:fillRect/>
          </a:stretch>
        </p:blipFill>
        <p:spPr>
          <a:xfrm>
            <a:off x="2272497" y="2758196"/>
            <a:ext cx="280904" cy="280904"/>
          </a:xfrm>
          <a:prstGeom prst="rect">
            <a:avLst/>
          </a:prstGeom>
        </p:spPr>
      </p:pic>
      <p:sp>
        <p:nvSpPr>
          <p:cNvPr id="8" name="Text 5"/>
          <p:cNvSpPr/>
          <p:nvPr/>
        </p:nvSpPr>
        <p:spPr>
          <a:xfrm>
            <a:off x="914400" y="3429000"/>
            <a:ext cx="2997098" cy="411480"/>
          </a:xfrm>
          <a:prstGeom prst="rect">
            <a:avLst/>
          </a:prstGeom>
          <a:noFill/>
          <a:ln/>
        </p:spPr>
        <p:txBody>
          <a:bodyPr wrap="square" lIns="0" tIns="0" rIns="0" bIns="0" rtlCol="0" anchor="ctr"/>
          <a:lstStyle/>
          <a:p>
            <a:pPr algn="ctr" indent="0" marL="0">
              <a:buNone/>
            </a:pPr>
            <a:r>
              <a:rPr lang="en-US" sz="1400" b="1" dirty="0">
                <a:solidFill>
                  <a:srgbClr val="1A2333"/>
                </a:solidFill>
                <a:latin typeface="Calibri" pitchFamily="34" charset="0"/>
                <a:ea typeface="Calibri" pitchFamily="34" charset="-122"/>
                <a:cs typeface="Calibri" pitchFamily="34" charset="-120"/>
              </a:rPr>
              <a:t>Docker</a:t>
            </a:r>
            <a:endParaRPr lang="en-US" sz="1400" dirty="0"/>
          </a:p>
        </p:txBody>
      </p:sp>
      <p:sp>
        <p:nvSpPr>
          <p:cNvPr id="9" name="Text 6"/>
          <p:cNvSpPr/>
          <p:nvPr/>
        </p:nvSpPr>
        <p:spPr>
          <a:xfrm>
            <a:off x="960120" y="3886200"/>
            <a:ext cx="2905658" cy="1508760"/>
          </a:xfrm>
          <a:prstGeom prst="rect">
            <a:avLst/>
          </a:prstGeom>
          <a:noFill/>
          <a:ln/>
        </p:spPr>
        <p:txBody>
          <a:bodyPr wrap="square" lIns="0" tIns="0" rIns="0" bIns="0" rtlCol="0" anchor="t"/>
          <a:lstStyle/>
          <a:p>
            <a:pPr algn="ctr" indent="0" marL="0">
              <a:buNone/>
            </a:pPr>
            <a:r>
              <a:rPr lang="en-US" sz="1100" dirty="0">
                <a:solidFill>
                  <a:srgbClr val="5B6B82"/>
                </a:solidFill>
                <a:latin typeface="Calibri" pitchFamily="34" charset="0"/>
                <a:ea typeface="Calibri" pitchFamily="34" charset="-122"/>
                <a:cs typeface="Calibri" pitchFamily="34" charset="-120"/>
              </a:rPr>
              <a:t>Backend containerized with a pinned Node version and a generated Prisma client — no "works on my machine"</a:t>
            </a:r>
            <a:endParaRPr lang="en-US" sz="1100" dirty="0"/>
          </a:p>
        </p:txBody>
      </p:sp>
      <p:sp>
        <p:nvSpPr>
          <p:cNvPr id="10" name="Shape 7"/>
          <p:cNvSpPr/>
          <p:nvPr/>
        </p:nvSpPr>
        <p:spPr>
          <a:xfrm>
            <a:off x="4414418" y="2286000"/>
            <a:ext cx="3362858" cy="3291840"/>
          </a:xfrm>
          <a:prstGeom prst="roundRect">
            <a:avLst>
              <a:gd name="adj" fmla="val 2222"/>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11" name="Shape 8"/>
          <p:cNvSpPr/>
          <p:nvPr/>
        </p:nvSpPr>
        <p:spPr>
          <a:xfrm>
            <a:off x="5803240" y="2606040"/>
            <a:ext cx="585216" cy="585216"/>
          </a:xfrm>
          <a:prstGeom prst="ellipse">
            <a:avLst/>
          </a:prstGeom>
          <a:solidFill>
            <a:srgbClr val="E4F3F1"/>
          </a:solidFill>
          <a:ln/>
        </p:spPr>
      </p:sp>
      <p:pic>
        <p:nvPicPr>
          <p:cNvPr id="12" name="Image 1" descr="preencoded.png">    </p:cNvPr>
          <p:cNvPicPr>
            <a:picLocks noChangeAspect="1"/>
          </p:cNvPicPr>
          <p:nvPr/>
        </p:nvPicPr>
        <p:blipFill>
          <a:blip r:embed="rId2"/>
          <a:stretch>
            <a:fillRect/>
          </a:stretch>
        </p:blipFill>
        <p:spPr>
          <a:xfrm>
            <a:off x="5955396" y="2758196"/>
            <a:ext cx="280904" cy="280904"/>
          </a:xfrm>
          <a:prstGeom prst="rect">
            <a:avLst/>
          </a:prstGeom>
        </p:spPr>
      </p:pic>
      <p:sp>
        <p:nvSpPr>
          <p:cNvPr id="13" name="Text 9"/>
          <p:cNvSpPr/>
          <p:nvPr/>
        </p:nvSpPr>
        <p:spPr>
          <a:xfrm>
            <a:off x="4597298" y="3429000"/>
            <a:ext cx="2997098" cy="411480"/>
          </a:xfrm>
          <a:prstGeom prst="rect">
            <a:avLst/>
          </a:prstGeom>
          <a:noFill/>
          <a:ln/>
        </p:spPr>
        <p:txBody>
          <a:bodyPr wrap="square" lIns="0" tIns="0" rIns="0" bIns="0" rtlCol="0" anchor="ctr"/>
          <a:lstStyle/>
          <a:p>
            <a:pPr algn="ctr" indent="0" marL="0">
              <a:buNone/>
            </a:pPr>
            <a:r>
              <a:rPr lang="en-US" sz="1400" b="1" dirty="0">
                <a:solidFill>
                  <a:srgbClr val="1A2333"/>
                </a:solidFill>
                <a:latin typeface="Calibri" pitchFamily="34" charset="0"/>
                <a:ea typeface="Calibri" pitchFamily="34" charset="-122"/>
                <a:cs typeface="Calibri" pitchFamily="34" charset="-120"/>
              </a:rPr>
              <a:t>Swagger / OpenAPI</a:t>
            </a:r>
            <a:endParaRPr lang="en-US" sz="1400" dirty="0"/>
          </a:p>
        </p:txBody>
      </p:sp>
      <p:sp>
        <p:nvSpPr>
          <p:cNvPr id="14" name="Text 10"/>
          <p:cNvSpPr/>
          <p:nvPr/>
        </p:nvSpPr>
        <p:spPr>
          <a:xfrm>
            <a:off x="4643018" y="3886200"/>
            <a:ext cx="2905658" cy="1508760"/>
          </a:xfrm>
          <a:prstGeom prst="rect">
            <a:avLst/>
          </a:prstGeom>
          <a:noFill/>
          <a:ln/>
        </p:spPr>
        <p:txBody>
          <a:bodyPr wrap="square" lIns="0" tIns="0" rIns="0" bIns="0" rtlCol="0" anchor="t"/>
          <a:lstStyle/>
          <a:p>
            <a:pPr algn="ctr" indent="0" marL="0">
              <a:buNone/>
            </a:pPr>
            <a:r>
              <a:rPr lang="en-US" sz="1100" dirty="0">
                <a:solidFill>
                  <a:srgbClr val="5B6B82"/>
                </a:solidFill>
                <a:latin typeface="Calibri" pitchFamily="34" charset="0"/>
                <a:ea typeface="Calibri" pitchFamily="34" charset="-122"/>
                <a:cs typeface="Calibri" pitchFamily="34" charset="-120"/>
              </a:rPr>
              <a:t>All 90+ endpoints documented and testable from a live /api-docs page</a:t>
            </a:r>
            <a:endParaRPr lang="en-US" sz="1100" dirty="0"/>
          </a:p>
        </p:txBody>
      </p:sp>
      <p:sp>
        <p:nvSpPr>
          <p:cNvPr id="15" name="Shape 11"/>
          <p:cNvSpPr/>
          <p:nvPr/>
        </p:nvSpPr>
        <p:spPr>
          <a:xfrm>
            <a:off x="8097317" y="2286000"/>
            <a:ext cx="3362858" cy="3291840"/>
          </a:xfrm>
          <a:prstGeom prst="roundRect">
            <a:avLst>
              <a:gd name="adj" fmla="val 2222"/>
            </a:avLst>
          </a:prstGeom>
          <a:solidFill>
            <a:srgbClr val="FFFFFF"/>
          </a:solidFill>
          <a:ln w="12700">
            <a:solidFill>
              <a:srgbClr val="E3E9F0"/>
            </a:solidFill>
            <a:prstDash val="solid"/>
          </a:ln>
          <a:effectLst>
            <a:outerShdw sx="100000" sy="100000" kx="0" ky="0" algn="bl" rotWithShape="0" blurRad="76200" dist="25400" dir="5400000">
              <a:srgbClr val="1A2333">
                <a:alpha val="8000"/>
              </a:srgbClr>
            </a:outerShdw>
          </a:effectLst>
        </p:spPr>
      </p:sp>
      <p:sp>
        <p:nvSpPr>
          <p:cNvPr id="16" name="Shape 12"/>
          <p:cNvSpPr/>
          <p:nvPr/>
        </p:nvSpPr>
        <p:spPr>
          <a:xfrm>
            <a:off x="9486138" y="2606040"/>
            <a:ext cx="585216" cy="585216"/>
          </a:xfrm>
          <a:prstGeom prst="ellipse">
            <a:avLst/>
          </a:prstGeom>
          <a:solidFill>
            <a:srgbClr val="E4F3F1"/>
          </a:solidFill>
          <a:ln/>
        </p:spPr>
      </p:sp>
      <p:pic>
        <p:nvPicPr>
          <p:cNvPr id="17" name="Image 2" descr="preencoded.png">    </p:cNvPr>
          <p:cNvPicPr>
            <a:picLocks noChangeAspect="1"/>
          </p:cNvPicPr>
          <p:nvPr/>
        </p:nvPicPr>
        <p:blipFill>
          <a:blip r:embed="rId3"/>
          <a:stretch>
            <a:fillRect/>
          </a:stretch>
        </p:blipFill>
        <p:spPr>
          <a:xfrm>
            <a:off x="9638294" y="2758196"/>
            <a:ext cx="280904" cy="280904"/>
          </a:xfrm>
          <a:prstGeom prst="rect">
            <a:avLst/>
          </a:prstGeom>
        </p:spPr>
      </p:pic>
      <p:sp>
        <p:nvSpPr>
          <p:cNvPr id="18" name="Text 13"/>
          <p:cNvSpPr/>
          <p:nvPr/>
        </p:nvSpPr>
        <p:spPr>
          <a:xfrm>
            <a:off x="8280197" y="3429000"/>
            <a:ext cx="2997098" cy="411480"/>
          </a:xfrm>
          <a:prstGeom prst="rect">
            <a:avLst/>
          </a:prstGeom>
          <a:noFill/>
          <a:ln/>
        </p:spPr>
        <p:txBody>
          <a:bodyPr wrap="square" lIns="0" tIns="0" rIns="0" bIns="0" rtlCol="0" anchor="ctr"/>
          <a:lstStyle/>
          <a:p>
            <a:pPr algn="ctr" indent="0" marL="0">
              <a:buNone/>
            </a:pPr>
            <a:r>
              <a:rPr lang="en-US" sz="1400" b="1" dirty="0">
                <a:solidFill>
                  <a:srgbClr val="1A2333"/>
                </a:solidFill>
                <a:latin typeface="Calibri" pitchFamily="34" charset="0"/>
                <a:ea typeface="Calibri" pitchFamily="34" charset="-122"/>
                <a:cs typeface="Calibri" pitchFamily="34" charset="-120"/>
              </a:rPr>
              <a:t>Free-Tier Cloud Deployment</a:t>
            </a:r>
            <a:endParaRPr lang="en-US" sz="1400" dirty="0"/>
          </a:p>
        </p:txBody>
      </p:sp>
      <p:sp>
        <p:nvSpPr>
          <p:cNvPr id="19" name="Text 14"/>
          <p:cNvSpPr/>
          <p:nvPr/>
        </p:nvSpPr>
        <p:spPr>
          <a:xfrm>
            <a:off x="8325917" y="3886200"/>
            <a:ext cx="2905658" cy="1508760"/>
          </a:xfrm>
          <a:prstGeom prst="rect">
            <a:avLst/>
          </a:prstGeom>
          <a:noFill/>
          <a:ln/>
        </p:spPr>
        <p:txBody>
          <a:bodyPr wrap="square" lIns="0" tIns="0" rIns="0" bIns="0" rtlCol="0" anchor="t"/>
          <a:lstStyle/>
          <a:p>
            <a:pPr algn="ctr" indent="0" marL="0">
              <a:buNone/>
            </a:pPr>
            <a:r>
              <a:rPr lang="en-US" sz="1100" dirty="0">
                <a:solidFill>
                  <a:srgbClr val="5B6B82"/>
                </a:solidFill>
                <a:latin typeface="Calibri" pitchFamily="34" charset="0"/>
                <a:ea typeface="Calibri" pitchFamily="34" charset="-122"/>
                <a:cs typeface="Calibri" pitchFamily="34" charset="-120"/>
              </a:rPr>
              <a:t>Frontend on Vercel, backend on Render, database on Neon — zero hosting cost</a:t>
            </a:r>
            <a:endParaRPr lang="en-US" sz="1100" dirty="0"/>
          </a:p>
        </p:txBody>
      </p:sp>
      <p:sp>
        <p:nvSpPr>
          <p:cNvPr id="20"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BY THE NUMBERS</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What We Actually Shipped</a:t>
            </a:r>
            <a:endParaRPr lang="en-US" sz="3000" dirty="0"/>
          </a:p>
        </p:txBody>
      </p:sp>
      <p:sp>
        <p:nvSpPr>
          <p:cNvPr id="4" name="Shape 2"/>
          <p:cNvSpPr/>
          <p:nvPr/>
        </p:nvSpPr>
        <p:spPr>
          <a:xfrm>
            <a:off x="731520" y="2743200"/>
            <a:ext cx="3393338" cy="2834640"/>
          </a:xfrm>
          <a:prstGeom prst="roundRect">
            <a:avLst>
              <a:gd name="adj" fmla="val 2581"/>
            </a:avLst>
          </a:prstGeom>
          <a:solidFill>
            <a:srgbClr val="0B2545"/>
          </a:solidFill>
          <a:ln/>
        </p:spPr>
      </p:sp>
      <p:sp>
        <p:nvSpPr>
          <p:cNvPr id="5" name="Text 3"/>
          <p:cNvSpPr/>
          <p:nvPr/>
        </p:nvSpPr>
        <p:spPr>
          <a:xfrm>
            <a:off x="868680" y="3246120"/>
            <a:ext cx="3119018" cy="1188720"/>
          </a:xfrm>
          <a:prstGeom prst="rect">
            <a:avLst/>
          </a:prstGeom>
          <a:noFill/>
          <a:ln/>
        </p:spPr>
        <p:txBody>
          <a:bodyPr wrap="square" lIns="0" tIns="0" rIns="0" bIns="0" rtlCol="0" anchor="ctr"/>
          <a:lstStyle/>
          <a:p>
            <a:pPr algn="ctr" indent="0" marL="0">
              <a:buNone/>
            </a:pPr>
            <a:r>
              <a:rPr lang="en-US" sz="4000" b="1" dirty="0">
                <a:solidFill>
                  <a:srgbClr val="5FD1C6"/>
                </a:solidFill>
                <a:latin typeface="Cambria" pitchFamily="34" charset="0"/>
                <a:ea typeface="Cambria" pitchFamily="34" charset="-122"/>
                <a:cs typeface="Cambria" pitchFamily="34" charset="-120"/>
              </a:rPr>
              <a:t>19</a:t>
            </a:r>
            <a:endParaRPr lang="en-US" sz="4000" dirty="0"/>
          </a:p>
        </p:txBody>
      </p:sp>
      <p:sp>
        <p:nvSpPr>
          <p:cNvPr id="6" name="Text 4"/>
          <p:cNvSpPr/>
          <p:nvPr/>
        </p:nvSpPr>
        <p:spPr>
          <a:xfrm>
            <a:off x="914400" y="4526280"/>
            <a:ext cx="3027578" cy="8229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Backend modules, each with its own routes, service, and schema validation</a:t>
            </a:r>
            <a:endParaRPr lang="en-US" sz="1200" dirty="0"/>
          </a:p>
        </p:txBody>
      </p:sp>
      <p:sp>
        <p:nvSpPr>
          <p:cNvPr id="7" name="Shape 5"/>
          <p:cNvSpPr/>
          <p:nvPr/>
        </p:nvSpPr>
        <p:spPr>
          <a:xfrm>
            <a:off x="4399178" y="2743200"/>
            <a:ext cx="3393338" cy="2834640"/>
          </a:xfrm>
          <a:prstGeom prst="roundRect">
            <a:avLst>
              <a:gd name="adj" fmla="val 2581"/>
            </a:avLst>
          </a:prstGeom>
          <a:solidFill>
            <a:srgbClr val="0B2545"/>
          </a:solidFill>
          <a:ln/>
        </p:spPr>
      </p:sp>
      <p:sp>
        <p:nvSpPr>
          <p:cNvPr id="8" name="Text 6"/>
          <p:cNvSpPr/>
          <p:nvPr/>
        </p:nvSpPr>
        <p:spPr>
          <a:xfrm>
            <a:off x="4536338" y="3246120"/>
            <a:ext cx="3119018" cy="1188720"/>
          </a:xfrm>
          <a:prstGeom prst="rect">
            <a:avLst/>
          </a:prstGeom>
          <a:noFill/>
          <a:ln/>
        </p:spPr>
        <p:txBody>
          <a:bodyPr wrap="square" lIns="0" tIns="0" rIns="0" bIns="0" rtlCol="0" anchor="ctr"/>
          <a:lstStyle/>
          <a:p>
            <a:pPr algn="ctr" indent="0" marL="0">
              <a:buNone/>
            </a:pPr>
            <a:r>
              <a:rPr lang="en-US" sz="4000" b="1" dirty="0">
                <a:solidFill>
                  <a:srgbClr val="5FD1C6"/>
                </a:solidFill>
                <a:latin typeface="Cambria" pitchFamily="34" charset="0"/>
                <a:ea typeface="Cambria" pitchFamily="34" charset="-122"/>
                <a:cs typeface="Cambria" pitchFamily="34" charset="-120"/>
              </a:rPr>
              <a:t>90+</a:t>
            </a:r>
            <a:endParaRPr lang="en-US" sz="4000" dirty="0"/>
          </a:p>
        </p:txBody>
      </p:sp>
      <p:sp>
        <p:nvSpPr>
          <p:cNvPr id="9" name="Text 7"/>
          <p:cNvSpPr/>
          <p:nvPr/>
        </p:nvSpPr>
        <p:spPr>
          <a:xfrm>
            <a:off x="4582058" y="4526280"/>
            <a:ext cx="3027578" cy="8229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Documented API endpoints across auth, clinical, and admin domains</a:t>
            </a:r>
            <a:endParaRPr lang="en-US" sz="1200" dirty="0"/>
          </a:p>
        </p:txBody>
      </p:sp>
      <p:sp>
        <p:nvSpPr>
          <p:cNvPr id="10" name="Shape 8"/>
          <p:cNvSpPr/>
          <p:nvPr/>
        </p:nvSpPr>
        <p:spPr>
          <a:xfrm>
            <a:off x="8066837" y="2743200"/>
            <a:ext cx="3393338" cy="2834640"/>
          </a:xfrm>
          <a:prstGeom prst="roundRect">
            <a:avLst>
              <a:gd name="adj" fmla="val 2581"/>
            </a:avLst>
          </a:prstGeom>
          <a:solidFill>
            <a:srgbClr val="0B2545"/>
          </a:solidFill>
          <a:ln/>
        </p:spPr>
      </p:sp>
      <p:sp>
        <p:nvSpPr>
          <p:cNvPr id="11" name="Text 9"/>
          <p:cNvSpPr/>
          <p:nvPr/>
        </p:nvSpPr>
        <p:spPr>
          <a:xfrm>
            <a:off x="8203997" y="3246120"/>
            <a:ext cx="3119018" cy="1188720"/>
          </a:xfrm>
          <a:prstGeom prst="rect">
            <a:avLst/>
          </a:prstGeom>
          <a:noFill/>
          <a:ln/>
        </p:spPr>
        <p:txBody>
          <a:bodyPr wrap="square" lIns="0" tIns="0" rIns="0" bIns="0" rtlCol="0" anchor="ctr"/>
          <a:lstStyle/>
          <a:p>
            <a:pPr algn="ctr" indent="0" marL="0">
              <a:buNone/>
            </a:pPr>
            <a:r>
              <a:rPr lang="en-US" sz="4000" b="1" dirty="0">
                <a:solidFill>
                  <a:srgbClr val="5FD1C6"/>
                </a:solidFill>
                <a:latin typeface="Cambria" pitchFamily="34" charset="0"/>
                <a:ea typeface="Cambria" pitchFamily="34" charset="-122"/>
                <a:cs typeface="Cambria" pitchFamily="34" charset="-120"/>
              </a:rPr>
              <a:t>34</a:t>
            </a:r>
            <a:endParaRPr lang="en-US" sz="4000" dirty="0"/>
          </a:p>
        </p:txBody>
      </p:sp>
      <p:sp>
        <p:nvSpPr>
          <p:cNvPr id="12" name="Text 10"/>
          <p:cNvSpPr/>
          <p:nvPr/>
        </p:nvSpPr>
        <p:spPr>
          <a:xfrm>
            <a:off x="8249717" y="4526280"/>
            <a:ext cx="3027578" cy="8229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Database tables modeling the full clinical record</a:t>
            </a:r>
            <a:endParaRPr lang="en-US" sz="1200" dirty="0"/>
          </a:p>
        </p:txBody>
      </p:sp>
      <p:sp>
        <p:nvSpPr>
          <p:cNvPr id="13" name="Text 1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31520" y="457200"/>
            <a:ext cx="7315200" cy="320040"/>
          </a:xfrm>
          <a:prstGeom prst="rect">
            <a:avLst/>
          </a:prstGeom>
          <a:noFill/>
          <a:ln/>
        </p:spPr>
        <p:txBody>
          <a:bodyPr wrap="square" lIns="0" tIns="0" rIns="0" bIns="0" rtlCol="0" anchor="ctr"/>
          <a:lstStyle/>
          <a:p>
            <a:pPr indent="0" marL="0">
              <a:buNone/>
            </a:pPr>
            <a:r>
              <a:rPr lang="en-US" sz="1200" b="1" spc="200" kern="0" dirty="0">
                <a:solidFill>
                  <a:srgbClr val="13877F"/>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731520" y="777240"/>
            <a:ext cx="10515600" cy="594360"/>
          </a:xfrm>
          <a:prstGeom prst="rect">
            <a:avLst/>
          </a:prstGeom>
          <a:noFill/>
          <a:ln/>
        </p:spPr>
        <p:txBody>
          <a:bodyPr wrap="square" lIns="0" tIns="0" rIns="0" bIns="0" rtlCol="0" anchor="ctr"/>
          <a:lstStyle/>
          <a:p>
            <a:pPr indent="0" marL="0">
              <a:buNone/>
            </a:pPr>
            <a:r>
              <a:rPr lang="en-US" sz="3000" b="1" dirty="0">
                <a:solidFill>
                  <a:srgbClr val="1A2333"/>
                </a:solidFill>
                <a:latin typeface="Cambria" pitchFamily="34" charset="0"/>
                <a:ea typeface="Cambria" pitchFamily="34" charset="-122"/>
                <a:cs typeface="Cambria" pitchFamily="34" charset="-120"/>
              </a:rPr>
              <a:t>Deliberately Out of Scope for the MVP</a:t>
            </a:r>
            <a:endParaRPr lang="en-US" sz="3000" dirty="0"/>
          </a:p>
        </p:txBody>
      </p:sp>
      <p:sp>
        <p:nvSpPr>
          <p:cNvPr id="4" name="Text 2"/>
          <p:cNvSpPr/>
          <p:nvPr/>
        </p:nvSpPr>
        <p:spPr>
          <a:xfrm>
            <a:off x="731520" y="1353312"/>
            <a:ext cx="10515600" cy="365760"/>
          </a:xfrm>
          <a:prstGeom prst="rect">
            <a:avLst/>
          </a:prstGeom>
          <a:noFill/>
          <a:ln/>
        </p:spPr>
        <p:txBody>
          <a:bodyPr wrap="square" lIns="0" tIns="0" rIns="0" bIns="0" rtlCol="0" anchor="ctr"/>
          <a:lstStyle/>
          <a:p>
            <a:pPr indent="0" marL="0">
              <a:buNone/>
            </a:pPr>
            <a:r>
              <a:rPr lang="en-US" sz="1350" dirty="0">
                <a:solidFill>
                  <a:srgbClr val="5B6B82"/>
                </a:solidFill>
                <a:latin typeface="Calibri" pitchFamily="34" charset="0"/>
                <a:ea typeface="Calibri" pitchFamily="34" charset="-122"/>
                <a:cs typeface="Calibri" pitchFamily="34" charset="-120"/>
              </a:rPr>
              <a:t>Scoped out on purpose, not forgotten — a 6-week MVP timeline meant drawing a hard line somewhere.</a:t>
            </a:r>
            <a:endParaRPr lang="en-US" sz="1350" dirty="0"/>
          </a:p>
        </p:txBody>
      </p:sp>
      <p:sp>
        <p:nvSpPr>
          <p:cNvPr id="5" name="Shape 3"/>
          <p:cNvSpPr/>
          <p:nvPr/>
        </p:nvSpPr>
        <p:spPr>
          <a:xfrm>
            <a:off x="731520" y="2176272"/>
            <a:ext cx="585216" cy="585216"/>
          </a:xfrm>
          <a:prstGeom prst="ellipse">
            <a:avLst/>
          </a:prstGeom>
          <a:solidFill>
            <a:srgbClr val="E4F3F1"/>
          </a:solidFill>
          <a:ln/>
        </p:spPr>
      </p:sp>
      <p:pic>
        <p:nvPicPr>
          <p:cNvPr id="6" name="Image 0" descr="preencoded.png">    </p:cNvPr>
          <p:cNvPicPr>
            <a:picLocks noChangeAspect="1"/>
          </p:cNvPicPr>
          <p:nvPr/>
        </p:nvPicPr>
        <p:blipFill>
          <a:blip r:embed="rId1"/>
          <a:stretch>
            <a:fillRect/>
          </a:stretch>
        </p:blipFill>
        <p:spPr>
          <a:xfrm>
            <a:off x="883676" y="2328428"/>
            <a:ext cx="280904" cy="280904"/>
          </a:xfrm>
          <a:prstGeom prst="rect">
            <a:avLst/>
          </a:prstGeom>
        </p:spPr>
      </p:pic>
      <p:sp>
        <p:nvSpPr>
          <p:cNvPr id="7" name="Text 4"/>
          <p:cNvSpPr/>
          <p:nvPr/>
        </p:nvSpPr>
        <p:spPr>
          <a:xfrm>
            <a:off x="1600200" y="198424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Multi-agent diagnostic council</a:t>
            </a:r>
            <a:endParaRPr lang="en-US" sz="1500" dirty="0"/>
          </a:p>
        </p:txBody>
      </p:sp>
      <p:sp>
        <p:nvSpPr>
          <p:cNvPr id="8" name="Text 5"/>
          <p:cNvSpPr/>
          <p:nvPr/>
        </p:nvSpPr>
        <p:spPr>
          <a:xfrm>
            <a:off x="1600200" y="233172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Specialized AI agents debating toward a consensus recommendation</a:t>
            </a:r>
            <a:endParaRPr lang="en-US" sz="1250" dirty="0"/>
          </a:p>
        </p:txBody>
      </p:sp>
      <p:sp>
        <p:nvSpPr>
          <p:cNvPr id="9" name="Shape 6"/>
          <p:cNvSpPr/>
          <p:nvPr/>
        </p:nvSpPr>
        <p:spPr>
          <a:xfrm>
            <a:off x="731520" y="3182112"/>
            <a:ext cx="585216" cy="585216"/>
          </a:xfrm>
          <a:prstGeom prst="ellipse">
            <a:avLst/>
          </a:prstGeom>
          <a:solidFill>
            <a:srgbClr val="E4F3F1"/>
          </a:solidFill>
          <a:ln/>
        </p:spPr>
      </p:sp>
      <p:pic>
        <p:nvPicPr>
          <p:cNvPr id="10" name="Image 1" descr="preencoded.png">    </p:cNvPr>
          <p:cNvPicPr>
            <a:picLocks noChangeAspect="1"/>
          </p:cNvPicPr>
          <p:nvPr/>
        </p:nvPicPr>
        <p:blipFill>
          <a:blip r:embed="rId2"/>
          <a:stretch>
            <a:fillRect/>
          </a:stretch>
        </p:blipFill>
        <p:spPr>
          <a:xfrm>
            <a:off x="883676" y="3334268"/>
            <a:ext cx="280904" cy="280904"/>
          </a:xfrm>
          <a:prstGeom prst="rect">
            <a:avLst/>
          </a:prstGeom>
        </p:spPr>
      </p:pic>
      <p:sp>
        <p:nvSpPr>
          <p:cNvPr id="11" name="Text 7"/>
          <p:cNvSpPr/>
          <p:nvPr/>
        </p:nvSpPr>
        <p:spPr>
          <a:xfrm>
            <a:off x="1600200" y="299008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Automated SBAR shift-handover reports</a:t>
            </a:r>
            <a:endParaRPr lang="en-US" sz="1500" dirty="0"/>
          </a:p>
        </p:txBody>
      </p:sp>
      <p:sp>
        <p:nvSpPr>
          <p:cNvPr id="12" name="Text 8"/>
          <p:cNvSpPr/>
          <p:nvPr/>
        </p:nvSpPr>
        <p:spPr>
          <a:xfrm>
            <a:off x="1600200" y="333756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Auto-generated at shift change from the admission's recorded data</a:t>
            </a:r>
            <a:endParaRPr lang="en-US" sz="1250" dirty="0"/>
          </a:p>
        </p:txBody>
      </p:sp>
      <p:sp>
        <p:nvSpPr>
          <p:cNvPr id="13" name="Shape 9"/>
          <p:cNvSpPr/>
          <p:nvPr/>
        </p:nvSpPr>
        <p:spPr>
          <a:xfrm>
            <a:off x="731520" y="4187952"/>
            <a:ext cx="585216" cy="585216"/>
          </a:xfrm>
          <a:prstGeom prst="ellipse">
            <a:avLst/>
          </a:prstGeom>
          <a:solidFill>
            <a:srgbClr val="E4F3F1"/>
          </a:solidFill>
          <a:ln/>
        </p:spPr>
      </p:sp>
      <p:pic>
        <p:nvPicPr>
          <p:cNvPr id="14" name="Image 2" descr="preencoded.png">    </p:cNvPr>
          <p:cNvPicPr>
            <a:picLocks noChangeAspect="1"/>
          </p:cNvPicPr>
          <p:nvPr/>
        </p:nvPicPr>
        <p:blipFill>
          <a:blip r:embed="rId3"/>
          <a:stretch>
            <a:fillRect/>
          </a:stretch>
        </p:blipFill>
        <p:spPr>
          <a:xfrm>
            <a:off x="883676" y="4340108"/>
            <a:ext cx="280904" cy="280904"/>
          </a:xfrm>
          <a:prstGeom prst="rect">
            <a:avLst/>
          </a:prstGeom>
        </p:spPr>
      </p:pic>
      <p:sp>
        <p:nvSpPr>
          <p:cNvPr id="15" name="Text 10"/>
          <p:cNvSpPr/>
          <p:nvPr/>
        </p:nvSpPr>
        <p:spPr>
          <a:xfrm>
            <a:off x="1600200" y="399592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Predictive deterioration models</a:t>
            </a:r>
            <a:endParaRPr lang="en-US" sz="1500" dirty="0"/>
          </a:p>
        </p:txBody>
      </p:sp>
      <p:sp>
        <p:nvSpPr>
          <p:cNvPr id="16" name="Text 11"/>
          <p:cNvSpPr/>
          <p:nvPr/>
        </p:nvSpPr>
        <p:spPr>
          <a:xfrm>
            <a:off x="1600200" y="434340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Moving from reactive threshold alerts to genuine forecasting</a:t>
            </a:r>
            <a:endParaRPr lang="en-US" sz="1250" dirty="0"/>
          </a:p>
        </p:txBody>
      </p:sp>
      <p:sp>
        <p:nvSpPr>
          <p:cNvPr id="17" name="Shape 12"/>
          <p:cNvSpPr/>
          <p:nvPr/>
        </p:nvSpPr>
        <p:spPr>
          <a:xfrm>
            <a:off x="731520" y="5193792"/>
            <a:ext cx="585216" cy="585216"/>
          </a:xfrm>
          <a:prstGeom prst="ellipse">
            <a:avLst/>
          </a:prstGeom>
          <a:solidFill>
            <a:srgbClr val="E4F3F1"/>
          </a:solidFill>
          <a:ln/>
        </p:spPr>
      </p:sp>
      <p:pic>
        <p:nvPicPr>
          <p:cNvPr id="18" name="Image 3" descr="preencoded.png">    </p:cNvPr>
          <p:cNvPicPr>
            <a:picLocks noChangeAspect="1"/>
          </p:cNvPicPr>
          <p:nvPr/>
        </p:nvPicPr>
        <p:blipFill>
          <a:blip r:embed="rId4"/>
          <a:stretch>
            <a:fillRect/>
          </a:stretch>
        </p:blipFill>
        <p:spPr>
          <a:xfrm>
            <a:off x="883676" y="5345948"/>
            <a:ext cx="280904" cy="280904"/>
          </a:xfrm>
          <a:prstGeom prst="rect">
            <a:avLst/>
          </a:prstGeom>
        </p:spPr>
      </p:pic>
      <p:sp>
        <p:nvSpPr>
          <p:cNvPr id="19" name="Text 13"/>
          <p:cNvSpPr/>
          <p:nvPr/>
        </p:nvSpPr>
        <p:spPr>
          <a:xfrm>
            <a:off x="1600200" y="5001768"/>
            <a:ext cx="9784080" cy="329184"/>
          </a:xfrm>
          <a:prstGeom prst="rect">
            <a:avLst/>
          </a:prstGeom>
          <a:noFill/>
          <a:ln/>
        </p:spPr>
        <p:txBody>
          <a:bodyPr wrap="square" lIns="0" tIns="0" rIns="0" bIns="0" rtlCol="0" anchor="ctr"/>
          <a:lstStyle/>
          <a:p>
            <a:pPr indent="0" marL="0">
              <a:buNone/>
            </a:pPr>
            <a:r>
              <a:rPr lang="en-US" sz="1500" b="1" dirty="0">
                <a:solidFill>
                  <a:srgbClr val="1A2333"/>
                </a:solidFill>
                <a:latin typeface="Calibri" pitchFamily="34" charset="0"/>
                <a:ea typeface="Calibri" pitchFamily="34" charset="-122"/>
                <a:cs typeface="Calibri" pitchFamily="34" charset="-120"/>
              </a:rPr>
              <a:t>Multi-ICU / EHR integration</a:t>
            </a:r>
            <a:endParaRPr lang="en-US" sz="1500" dirty="0"/>
          </a:p>
        </p:txBody>
      </p:sp>
      <p:sp>
        <p:nvSpPr>
          <p:cNvPr id="20" name="Text 14"/>
          <p:cNvSpPr/>
          <p:nvPr/>
        </p:nvSpPr>
        <p:spPr>
          <a:xfrm>
            <a:off x="1600200" y="5349240"/>
            <a:ext cx="9784080" cy="59436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Scaling beyond a single unit and connecting to external hospital systems</a:t>
            </a:r>
            <a:endParaRPr lang="en-US" sz="1250" dirty="0"/>
          </a:p>
        </p:txBody>
      </p:sp>
      <p:sp>
        <p:nvSpPr>
          <p:cNvPr id="21"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B9C3D1"/>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638648" y="1188720"/>
            <a:ext cx="914400" cy="914400"/>
          </a:xfrm>
          <a:prstGeom prst="ellipse">
            <a:avLst/>
          </a:prstGeom>
          <a:solidFill>
            <a:srgbClr val="2A1A22"/>
          </a:solidFill>
          <a:ln/>
        </p:spPr>
      </p:sp>
      <p:pic>
        <p:nvPicPr>
          <p:cNvPr id="3" name="Image 0" descr="preencoded.png">    </p:cNvPr>
          <p:cNvPicPr>
            <a:picLocks noChangeAspect="1"/>
          </p:cNvPicPr>
          <p:nvPr/>
        </p:nvPicPr>
        <p:blipFill>
          <a:blip r:embed="rId1"/>
          <a:stretch>
            <a:fillRect/>
          </a:stretch>
        </p:blipFill>
        <p:spPr>
          <a:xfrm>
            <a:off x="5876392" y="1426464"/>
            <a:ext cx="438912" cy="438912"/>
          </a:xfrm>
          <a:prstGeom prst="rect">
            <a:avLst/>
          </a:prstGeom>
        </p:spPr>
      </p:pic>
      <p:sp>
        <p:nvSpPr>
          <p:cNvPr id="4" name="Text 1"/>
          <p:cNvSpPr/>
          <p:nvPr/>
        </p:nvSpPr>
        <p:spPr>
          <a:xfrm>
            <a:off x="731520" y="2377440"/>
            <a:ext cx="10728655"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2"/>
          <p:cNvSpPr/>
          <p:nvPr/>
        </p:nvSpPr>
        <p:spPr>
          <a:xfrm>
            <a:off x="731520" y="3246120"/>
            <a:ext cx="10728655" cy="457200"/>
          </a:xfrm>
          <a:prstGeom prst="rect">
            <a:avLst/>
          </a:prstGeom>
          <a:noFill/>
          <a:ln/>
        </p:spPr>
        <p:txBody>
          <a:bodyPr wrap="square" lIns="0" tIns="0" rIns="0" bIns="0"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6" name="Shape 3"/>
          <p:cNvSpPr/>
          <p:nvPr/>
        </p:nvSpPr>
        <p:spPr>
          <a:xfrm>
            <a:off x="5272888" y="3931920"/>
            <a:ext cx="1645920" cy="0"/>
          </a:xfrm>
          <a:prstGeom prst="line">
            <a:avLst/>
          </a:prstGeom>
          <a:noFill/>
          <a:ln w="25400">
            <a:solidFill>
              <a:srgbClr val="13877F"/>
            </a:solidFill>
            <a:prstDash val="solid"/>
          </a:ln>
        </p:spPr>
      </p:sp>
      <p:sp>
        <p:nvSpPr>
          <p:cNvPr id="7" name="Text 4"/>
          <p:cNvSpPr/>
          <p:nvPr/>
        </p:nvSpPr>
        <p:spPr>
          <a:xfrm>
            <a:off x="1371600" y="4160520"/>
            <a:ext cx="9448495" cy="365760"/>
          </a:xfrm>
          <a:prstGeom prst="rect">
            <a:avLst/>
          </a:prstGeom>
          <a:noFill/>
          <a:ln/>
        </p:spPr>
        <p:txBody>
          <a:bodyPr wrap="square" lIns="0" tIns="0" rIns="0" bIns="0" rtlCol="0" anchor="ctr"/>
          <a:lstStyle/>
          <a:p>
            <a:pPr algn="ctr" indent="0" marL="0">
              <a:buNone/>
            </a:pPr>
            <a:r>
              <a:rPr lang="en-US" sz="1100" dirty="0">
                <a:solidFill>
                  <a:srgbClr val="7C93B8"/>
                </a:solidFill>
                <a:latin typeface="Calibri" pitchFamily="34" charset="0"/>
                <a:ea typeface="Calibri" pitchFamily="34" charset="-122"/>
                <a:cs typeface="Calibri" pitchFamily="34" charset="-120"/>
              </a:rPr>
              <a:t>SmartCare ICU — AI-Powered ICU Management &amp; Clinical Decision Support System</a:t>
            </a:r>
            <a:endParaRPr lang="en-US" sz="1100" dirty="0"/>
          </a:p>
        </p:txBody>
      </p:sp>
      <p:sp>
        <p:nvSpPr>
          <p:cNvPr id="8" name="Text 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C7089"/>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2026-08-05T02:51:48Z</dcterms:created>
  <dcterms:modified xsi:type="dcterms:W3CDTF">2026-08-05T02:51:48Z</dcterms:modified>
</cp:coreProperties>
</file>